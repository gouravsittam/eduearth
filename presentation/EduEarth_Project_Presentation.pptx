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7450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EduEarth as a full-stack platform that turns environmental education into a practical learning, gaming and tracking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problem as engagement, teacher visibility and data readiness. Then show EduEarth as a loop of learn, play, act and track.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project around its stakeholders and the recurring product loop that keeps learners engaged.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this slide as a quick product tour: home, dashboards, articles, modules and game experiences are all implemented and connected.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the user journey step by step, emphasizing that role-aware routing keeps the UX clean for students and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Present the frontend as a clear set of layers: routes, components, API/auth helpers and assets.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how auth state controls routing and how users move into modules, games, articles and class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the chart to show breadth, then explain how assignments, missions, badges and leaderboards reinforce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each game briefly, then explain the realtime game loop from queue to match to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how the Python and Airflow workspace decouples external fetching from the Express API and enriches content for curriculum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Summarize the backend as REST plus realtime. Mention the observability and outbox publisher because those show production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two flows: standard REST request handling and reliable websocket fan-out through the outbox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data model by families instead of reading every table. The diagram gives depth while the left side keeps the story 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this slide as the main architecture explanation: the user-facing Next.js app talks to the Express API, realtime Socket.io services support games and updates, PostgreSQL stores domain data, and Airflow enriches external environmental feeds.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the technical story by showing what is already designed for safety and what can be expanded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91157-A72A-81BE-DA46-5DCABFE12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E38292-1835-193C-8C04-08D7C3DA70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61C19-506C-662A-0D29-BFCEAE67B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the audience and invite questions. Be ready to demo the dashboards, games and architecture diagrams.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BFD067-597B-0D79-4C6B-EBAE6B2D6E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051859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the audience and invite questions. Be ready to demo the dashboards, games and architecture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jp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rive.google.com/file/d/1_sy3yT-GFeWh_jAHREDXJa7WMEi_YCEw/view?usp=drive_link" TargetMode="External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EduEarth Theme Background - cover" descr="eduearth_bg_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0012680" y="658368"/>
            <a:ext cx="1005840" cy="91440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64240" y="658368"/>
            <a:ext cx="41148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58368" y="6080760"/>
            <a:ext cx="64008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89888" y="6080760"/>
            <a:ext cx="1097280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75720" y="1143000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75720" y="1344168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475720" y="1545336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75720" y="1746504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75720" y="1947672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11" name="Picture 10" descr="1_home.png"/>
          <p:cNvPicPr>
            <a:picLocks noChangeAspect="1"/>
          </p:cNvPicPr>
          <p:nvPr/>
        </p:nvPicPr>
        <p:blipFill>
          <a:blip r:embed="rId4"/>
          <a:srcRect l="20268" r="20268"/>
          <a:stretch>
            <a:fillRect/>
          </a:stretch>
        </p:blipFill>
        <p:spPr>
          <a:xfrm>
            <a:off x="5852160" y="530352"/>
            <a:ext cx="5806440" cy="4663440"/>
          </a:xfrm>
          <a:prstGeom prst="rect">
            <a:avLst/>
          </a:prstGeom>
          <a:ln>
            <a:solidFill/>
          </a:ln>
        </p:spPr>
      </p:pic>
      <p:sp>
        <p:nvSpPr>
          <p:cNvPr id="12" name="Rectangle 11"/>
          <p:cNvSpPr/>
          <p:nvPr/>
        </p:nvSpPr>
        <p:spPr>
          <a:xfrm>
            <a:off x="5852160" y="658368"/>
            <a:ext cx="5806440" cy="4663440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66928" y="512064"/>
            <a:ext cx="5074920" cy="466344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14" name="Picture 13" descr="EduEarth-logo-sma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916664"/>
            <a:ext cx="566928" cy="470958"/>
          </a:xfrm>
          <a:prstGeom prst="rect">
            <a:avLst/>
          </a:prstGeom>
          <a:ln>
            <a:solidFill/>
          </a:ln>
        </p:spPr>
      </p:pic>
      <p:sp>
        <p:nvSpPr>
          <p:cNvPr id="15" name="TextBox 14"/>
          <p:cNvSpPr txBox="1"/>
          <p:nvPr/>
        </p:nvSpPr>
        <p:spPr>
          <a:xfrm>
            <a:off x="1444752" y="932688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100" b="1">
                <a:solidFill>
                  <a:srgbClr val="102A26"/>
                </a:solidFill>
                <a:latin typeface="Calibri"/>
              </a:rPr>
              <a:t>EduEarth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978408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010" b="1">
                <a:solidFill>
                  <a:srgbClr val="41645C"/>
                </a:solidFill>
                <a:latin typeface="Courier New"/>
              </a:rPr>
              <a:t>PROJECT PRESENTATION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1664208"/>
            <a:ext cx="1965960" cy="7132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6200" b="1">
                <a:solidFill>
                  <a:srgbClr val="102A26"/>
                </a:solidFill>
                <a:latin typeface="Calibri"/>
              </a:rPr>
              <a:t>EDU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5184" y="1664208"/>
            <a:ext cx="2423160" cy="7132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6200" b="1" dirty="0">
                <a:solidFill>
                  <a:srgbClr val="11845B"/>
                </a:solidFill>
                <a:latin typeface="Calibri"/>
              </a:rPr>
              <a:t>EARTH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2587752"/>
            <a:ext cx="425196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000" b="1">
                <a:solidFill>
                  <a:srgbClr val="102A26"/>
                </a:solidFill>
                <a:latin typeface="Calibri"/>
              </a:rPr>
              <a:t>Where learning meets action for a sustainable future.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3182112"/>
            <a:ext cx="4251960" cy="5029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390" b="0" dirty="0">
                <a:solidFill>
                  <a:srgbClr val="41645C"/>
                </a:solidFill>
                <a:latin typeface="Calibri"/>
              </a:rPr>
              <a:t>A gamified environmental education platform for students, teachers and institutions.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" y="3913632"/>
            <a:ext cx="1143000" cy="91440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42415" y="4078224"/>
            <a:ext cx="813816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800" b="1">
                <a:solidFill>
                  <a:srgbClr val="11845B"/>
                </a:solidFill>
                <a:latin typeface="Courier New"/>
              </a:rPr>
              <a:t>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5" y="4462272"/>
            <a:ext cx="813816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 dirty="0">
                <a:solidFill>
                  <a:srgbClr val="41645C"/>
                </a:solidFill>
                <a:latin typeface="Calibri"/>
              </a:rPr>
              <a:t>LEARNING MODULES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57984" y="3913632"/>
            <a:ext cx="1143000" cy="91440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322576" y="4078224"/>
            <a:ext cx="813816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800" b="1">
                <a:solidFill>
                  <a:srgbClr val="2563EB"/>
                </a:solidFill>
                <a:latin typeface="Courier New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2576" y="4453128"/>
            <a:ext cx="813816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 dirty="0">
                <a:solidFill>
                  <a:srgbClr val="41645C"/>
                </a:solidFill>
                <a:latin typeface="Calibri"/>
              </a:rPr>
              <a:t>GAME MODES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38144" y="3913632"/>
            <a:ext cx="1325880" cy="91440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02736" y="4078224"/>
            <a:ext cx="996695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800" b="1">
                <a:solidFill>
                  <a:srgbClr val="6D28D9"/>
                </a:solidFill>
                <a:latin typeface="Courier New"/>
              </a:rPr>
              <a:t>REST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2736" y="4517136"/>
            <a:ext cx="996695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 dirty="0">
                <a:solidFill>
                  <a:srgbClr val="41645C"/>
                </a:solidFill>
                <a:latin typeface="Calibri"/>
              </a:rPr>
              <a:t>API + REALTIME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437376"/>
            <a:ext cx="11201400" cy="9144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6492240"/>
            <a:ext cx="5943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Gamified learning | Role-aware dashboards | Realtime games | Environmental data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242560"/>
            <a:ext cx="11460480" cy="914400"/>
          </a:xfrm>
          <a:prstGeom prst="roundRect">
            <a:avLst/>
          </a:prstGeom>
          <a:solidFill>
            <a:srgbClr val="FFFFFF"/>
          </a:solidFill>
          <a:ln w="1397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EduEarth Team Project Title"/>
          <p:cNvSpPr txBox="1"/>
          <p:nvPr/>
        </p:nvSpPr>
        <p:spPr>
          <a:xfrm>
            <a:off x="640080" y="5410200"/>
            <a:ext cx="6390000" cy="21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0E2D27"/>
                </a:solidFill>
                <a:latin typeface="Aptos"/>
              </a:rPr>
              <a:t>Project Title: EduEarth - Gamified Environmental Education Platform</a:t>
            </a:r>
          </a:p>
        </p:txBody>
      </p:sp>
      <p:sp>
        <p:nvSpPr>
          <p:cNvPr id="38" name="EduEarth Team Heading"/>
          <p:cNvSpPr txBox="1"/>
          <p:nvPr/>
        </p:nvSpPr>
        <p:spPr>
          <a:xfrm>
            <a:off x="7680960" y="5410200"/>
            <a:ext cx="3474720" cy="21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0D7E52"/>
                </a:solidFill>
                <a:latin typeface="Aptos"/>
              </a:rPr>
              <a:t>Project Team</a:t>
            </a:r>
          </a:p>
        </p:txBody>
      </p:sp>
      <p:sp>
        <p:nvSpPr>
          <p:cNvPr id="39" name="EduEarth Team Card 1"/>
          <p:cNvSpPr/>
          <p:nvPr/>
        </p:nvSpPr>
        <p:spPr>
          <a:xfrm>
            <a:off x="640080" y="5702808"/>
            <a:ext cx="2575560" cy="319944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EduEarth Team Member 1"/>
          <p:cNvSpPr txBox="1"/>
          <p:nvPr/>
        </p:nvSpPr>
        <p:spPr>
          <a:xfrm>
            <a:off x="1626493" y="5669674"/>
            <a:ext cx="602729" cy="36163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0D7E52"/>
                </a:solidFill>
                <a:latin typeface="Aptos"/>
              </a:rPr>
              <a:t>Gourav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26544C"/>
                </a:solidFill>
                <a:latin typeface="Aptos"/>
              </a:rPr>
              <a:t>12203224</a:t>
            </a:r>
          </a:p>
        </p:txBody>
      </p:sp>
      <p:sp>
        <p:nvSpPr>
          <p:cNvPr id="41" name="EduEarth Team Card 2"/>
          <p:cNvSpPr/>
          <p:nvPr/>
        </p:nvSpPr>
        <p:spPr>
          <a:xfrm>
            <a:off x="3386328" y="5702808"/>
            <a:ext cx="2575560" cy="319944"/>
          </a:xfrm>
          <a:prstGeom prst="roundRect">
            <a:avLst/>
          </a:prstGeom>
          <a:solidFill>
            <a:srgbClr val="E0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EduEarth Team Member 2"/>
          <p:cNvSpPr txBox="1"/>
          <p:nvPr/>
        </p:nvSpPr>
        <p:spPr>
          <a:xfrm>
            <a:off x="4245080" y="5687962"/>
            <a:ext cx="858055" cy="36163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0" b="1" dirty="0">
                <a:solidFill>
                  <a:srgbClr val="087A76"/>
                </a:solidFill>
                <a:latin typeface="Aptos"/>
              </a:rPr>
              <a:t>T R Swayam</a:t>
            </a:r>
            <a:endParaRPr sz="1250" b="1" dirty="0">
              <a:solidFill>
                <a:srgbClr val="087A76"/>
              </a:solidFill>
              <a:latin typeface="Apto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/>
              <a:t>12218740</a:t>
            </a:r>
            <a:endParaRPr sz="1100" b="0" dirty="0">
              <a:solidFill>
                <a:srgbClr val="26544C"/>
              </a:solidFill>
              <a:latin typeface="Aptos"/>
            </a:endParaRPr>
          </a:p>
        </p:txBody>
      </p:sp>
      <p:sp>
        <p:nvSpPr>
          <p:cNvPr id="43" name="EduEarth Team Card 3"/>
          <p:cNvSpPr/>
          <p:nvPr/>
        </p:nvSpPr>
        <p:spPr>
          <a:xfrm>
            <a:off x="6132576" y="5702808"/>
            <a:ext cx="2575560" cy="319944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EduEarth Team Member 3"/>
          <p:cNvSpPr txBox="1"/>
          <p:nvPr/>
        </p:nvSpPr>
        <p:spPr>
          <a:xfrm>
            <a:off x="6809453" y="5678818"/>
            <a:ext cx="1221808" cy="36163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0" b="1" dirty="0">
                <a:solidFill>
                  <a:srgbClr val="0D7E52"/>
                </a:solidFill>
                <a:latin typeface="Aptos"/>
              </a:rPr>
              <a:t>Kuldeep Gautam</a:t>
            </a:r>
            <a:endParaRPr sz="1250" b="1" dirty="0">
              <a:solidFill>
                <a:srgbClr val="0D7E52"/>
              </a:solidFill>
              <a:latin typeface="Apto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/>
              <a:t>12213805</a:t>
            </a:r>
            <a:endParaRPr sz="1100" b="0" dirty="0">
              <a:solidFill>
                <a:srgbClr val="26544C"/>
              </a:solidFill>
              <a:latin typeface="Aptos"/>
            </a:endParaRPr>
          </a:p>
        </p:txBody>
      </p:sp>
      <p:sp>
        <p:nvSpPr>
          <p:cNvPr id="45" name="EduEarth Team Card 4"/>
          <p:cNvSpPr/>
          <p:nvPr/>
        </p:nvSpPr>
        <p:spPr>
          <a:xfrm>
            <a:off x="8878824" y="5702808"/>
            <a:ext cx="2575560" cy="319944"/>
          </a:xfrm>
          <a:prstGeom prst="roundRect">
            <a:avLst/>
          </a:prstGeom>
          <a:solidFill>
            <a:srgbClr val="E0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EduEarth Team Member 4"/>
          <p:cNvSpPr txBox="1"/>
          <p:nvPr/>
        </p:nvSpPr>
        <p:spPr>
          <a:xfrm>
            <a:off x="9563490" y="5678818"/>
            <a:ext cx="1206228" cy="36163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0" b="1" dirty="0">
                <a:solidFill>
                  <a:srgbClr val="087A76"/>
                </a:solidFill>
                <a:latin typeface="Aptos"/>
              </a:rPr>
              <a:t>Devansh </a:t>
            </a:r>
            <a:r>
              <a:rPr lang="en-US" sz="1250" b="1" dirty="0" err="1">
                <a:solidFill>
                  <a:srgbClr val="087A76"/>
                </a:solidFill>
                <a:latin typeface="Aptos"/>
              </a:rPr>
              <a:t>Baliyan</a:t>
            </a:r>
            <a:endParaRPr sz="1250" b="1" dirty="0">
              <a:solidFill>
                <a:srgbClr val="087A76"/>
              </a:solidFill>
              <a:latin typeface="Apto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/>
              <a:t>12207844</a:t>
            </a:r>
            <a:endParaRPr sz="1100" b="0" dirty="0">
              <a:solidFill>
                <a:srgbClr val="26544C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EduEarth Theme Background - story" descr="eduearth_bg_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0012680" y="658368"/>
            <a:ext cx="1005840" cy="91440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64240" y="658368"/>
            <a:ext cx="41148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58368" y="6080760"/>
            <a:ext cx="64008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89888" y="6080760"/>
            <a:ext cx="1097280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75720" y="1143000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75720" y="1344168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475720" y="1545336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75720" y="1746504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75720" y="1947672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>
                <a:solidFill>
                  <a:srgbClr val="41645C"/>
                </a:solidFill>
                <a:latin typeface="Calibri"/>
              </a:rPr>
              <a:t>EduEarth | Project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1120" b="1">
                <a:solidFill>
                  <a:srgbClr val="41645C"/>
                </a:solidFill>
                <a:latin typeface="Calibri"/>
              </a:rPr>
              <a:t>Problem &amp; 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201168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120" b="1">
                <a:solidFill>
                  <a:srgbClr val="41645C"/>
                </a:solidFill>
                <a:latin typeface="Courier New"/>
              </a:rPr>
              <a:t>02 /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66928"/>
            <a:ext cx="73152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" y="566928"/>
            <a:ext cx="731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0664" y="566928"/>
            <a:ext cx="73152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713232"/>
            <a:ext cx="667512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800" b="1">
                <a:solidFill>
                  <a:srgbClr val="102A26"/>
                </a:solidFill>
                <a:latin typeface="Calibri"/>
              </a:rPr>
              <a:t>Problem Statement &amp; Proposed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1170432"/>
            <a:ext cx="7406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440" b="0">
                <a:solidFill>
                  <a:srgbClr val="41645C"/>
                </a:solidFill>
                <a:latin typeface="Calibri"/>
              </a:rPr>
              <a:t>Moving environmental education from passive awareness to measurable action.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1664208"/>
            <a:ext cx="5138928" cy="4069080"/>
          </a:xfrm>
          <a:prstGeom prst="roundRect">
            <a:avLst/>
          </a:prstGeom>
          <a:solidFill>
            <a:srgbClr val="FFF3D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355080" y="1664208"/>
            <a:ext cx="5138928" cy="4069080"/>
          </a:xfrm>
          <a:prstGeom prst="roundRect">
            <a:avLst/>
          </a:prstGeom>
          <a:solidFill>
            <a:srgbClr val="DFF5E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2688" y="1901952"/>
            <a:ext cx="219456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340" b="1">
                <a:solidFill>
                  <a:srgbClr val="B45309"/>
                </a:solidFill>
                <a:latin typeface="Courier New"/>
              </a:rPr>
              <a:t>THE PROBLEM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2688" y="2331720"/>
            <a:ext cx="4407408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9848" y="2459736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B45309"/>
                </a:solidFill>
                <a:latin typeface="Courier New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76756" y="2340864"/>
            <a:ext cx="3694176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 dirty="0">
                <a:solidFill>
                  <a:srgbClr val="102A26"/>
                </a:solidFill>
                <a:latin typeface="Calibri"/>
              </a:rPr>
              <a:t>LOW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53896" y="2496313"/>
            <a:ext cx="3694176" cy="6400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 dirty="0">
                <a:solidFill>
                  <a:srgbClr val="41645C"/>
                </a:solidFill>
                <a:latin typeface="Calibri"/>
              </a:rPr>
              <a:t>Environmental learning is often passive and hard to connect with daily behavior.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" y="3044952"/>
            <a:ext cx="4407408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9848" y="3172968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B45309"/>
                </a:solidFill>
                <a:latin typeface="Courier New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90472" y="2994660"/>
            <a:ext cx="3694176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 dirty="0">
                <a:solidFill>
                  <a:srgbClr val="102A26"/>
                </a:solidFill>
                <a:latin typeface="Calibri"/>
              </a:rPr>
              <a:t>WEAK ACTION LOOP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99616" y="3246120"/>
            <a:ext cx="3694176" cy="6400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 dirty="0">
                <a:solidFill>
                  <a:srgbClr val="41645C"/>
                </a:solidFill>
                <a:latin typeface="Calibri"/>
              </a:rPr>
              <a:t>Students need feedback, missions and motivation beyond static lessons.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2688" y="3758183"/>
            <a:ext cx="4407408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9848" y="3886199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B45309"/>
                </a:solidFill>
                <a:latin typeface="Courier New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76756" y="3726180"/>
            <a:ext cx="3694176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 dirty="0">
                <a:solidFill>
                  <a:srgbClr val="102A26"/>
                </a:solidFill>
                <a:latin typeface="Calibri"/>
              </a:rPr>
              <a:t>LIMITED VISIBILITY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90472" y="3968495"/>
            <a:ext cx="3694176" cy="6400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 dirty="0">
                <a:solidFill>
                  <a:srgbClr val="41645C"/>
                </a:solidFill>
                <a:latin typeface="Calibri"/>
              </a:rPr>
              <a:t>Teachers need visibility into progress, participation and class performance.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" y="4471416"/>
            <a:ext cx="4407408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69848" y="4599431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B45309"/>
                </a:solidFill>
                <a:latin typeface="Courier New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99616" y="4517135"/>
            <a:ext cx="3694176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 dirty="0">
                <a:solidFill>
                  <a:srgbClr val="102A26"/>
                </a:solidFill>
                <a:latin typeface="Calibri"/>
              </a:rPr>
              <a:t>RAW INFORMATION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99616" y="4718303"/>
            <a:ext cx="3694176" cy="6400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 dirty="0">
                <a:solidFill>
                  <a:srgbClr val="41645C"/>
                </a:solidFill>
                <a:latin typeface="Calibri"/>
              </a:rPr>
              <a:t>Current climate news is useful, but rarely converted into classroom-ready material.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1901952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340" b="1">
                <a:solidFill>
                  <a:srgbClr val="116A46"/>
                </a:solidFill>
                <a:latin typeface="Courier New"/>
              </a:rPr>
              <a:t>PROPOSED SOLUTION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1968" y="2331720"/>
            <a:ext cx="4407408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739128" y="2459736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11845B"/>
                </a:solidFill>
                <a:latin typeface="Courier New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68896" y="2340863"/>
            <a:ext cx="3694176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 dirty="0">
                <a:solidFill>
                  <a:srgbClr val="102A26"/>
                </a:solidFill>
                <a:latin typeface="Calibri"/>
              </a:rPr>
              <a:t>GAMIFIED LEARNING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8896" y="2578609"/>
            <a:ext cx="3694176" cy="6400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 dirty="0">
                <a:solidFill>
                  <a:srgbClr val="41645C"/>
                </a:solidFill>
                <a:latin typeface="Calibri"/>
              </a:rPr>
              <a:t>Modules, quizzes, missions, badges, streaks and eco-points.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01968" y="3044952"/>
            <a:ext cx="4407408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739128" y="3172968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11845B"/>
                </a:solidFill>
                <a:latin typeface="Courier New"/>
              </a:rPr>
              <a:t>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68896" y="3063240"/>
            <a:ext cx="3694176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 dirty="0">
                <a:solidFill>
                  <a:srgbClr val="102A26"/>
                </a:solidFill>
                <a:latin typeface="Calibri"/>
              </a:rPr>
              <a:t>ROLE-AWARE DASHBOARDS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8896" y="3273552"/>
            <a:ext cx="3694176" cy="6400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 dirty="0">
                <a:solidFill>
                  <a:srgbClr val="41645C"/>
                </a:solidFill>
                <a:latin typeface="Calibri"/>
              </a:rPr>
              <a:t>Separate student and teacher journeys with automatic routing.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01968" y="3758183"/>
            <a:ext cx="4407408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39128" y="3886199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11845B"/>
                </a:solidFill>
                <a:latin typeface="Courier New"/>
              </a:rP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68896" y="3877055"/>
            <a:ext cx="3694176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 dirty="0">
                <a:solidFill>
                  <a:srgbClr val="102A26"/>
                </a:solidFill>
                <a:latin typeface="Calibri"/>
              </a:rPr>
              <a:t>REALTIME GAME LAYER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68896" y="4096511"/>
            <a:ext cx="3694176" cy="6400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>
                <a:solidFill>
                  <a:srgbClr val="41645C"/>
                </a:solidFill>
                <a:latin typeface="Calibri"/>
              </a:rPr>
              <a:t>Socket.io powered quiz races and multiplayer learning moments.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01968" y="4471416"/>
            <a:ext cx="4407408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739128" y="4599431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11845B"/>
                </a:solidFill>
                <a:latin typeface="Courier New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4480559"/>
            <a:ext cx="3694176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 dirty="0">
                <a:solidFill>
                  <a:srgbClr val="102A26"/>
                </a:solidFill>
                <a:latin typeface="Calibri"/>
              </a:rPr>
              <a:t>DATA-ENRICHED ARTICLES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68896" y="4700016"/>
            <a:ext cx="3694176" cy="6400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 dirty="0">
                <a:solidFill>
                  <a:srgbClr val="41645C"/>
                </a:solidFill>
                <a:latin typeface="Calibri"/>
              </a:rPr>
              <a:t>Airflow ingestion turns RSS and climate data into curriculum-aligned content.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6437376"/>
            <a:ext cx="11201400" cy="9144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02920" y="6492240"/>
            <a:ext cx="5943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Gamified learning | Role-aware dashboards | Realtime games | Environmental data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EduEarth Theme Background - story" descr="eduearth_bg_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0012680" y="658368"/>
            <a:ext cx="1005840" cy="91440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64240" y="658368"/>
            <a:ext cx="41148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58368" y="6080760"/>
            <a:ext cx="64008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89888" y="6080760"/>
            <a:ext cx="1097280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75720" y="1143000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75720" y="1344168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475720" y="1545336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75720" y="1746504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75720" y="1947672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>
                <a:solidFill>
                  <a:srgbClr val="41645C"/>
                </a:solidFill>
                <a:latin typeface="Calibri"/>
              </a:rPr>
              <a:t>EduEarth | Project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1120" b="1">
                <a:solidFill>
                  <a:srgbClr val="41645C"/>
                </a:solidFill>
                <a:latin typeface="Calibri"/>
              </a:rPr>
              <a:t>Introduction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201168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120" b="1">
                <a:solidFill>
                  <a:srgbClr val="41645C"/>
                </a:solidFill>
                <a:latin typeface="Courier New"/>
              </a:rPr>
              <a:t>03 /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66928"/>
            <a:ext cx="73152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" y="566928"/>
            <a:ext cx="731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0664" y="566928"/>
            <a:ext cx="73152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566928"/>
            <a:ext cx="667512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800" b="1" dirty="0">
                <a:solidFill>
                  <a:srgbClr val="102A26"/>
                </a:solidFill>
                <a:latin typeface="Calibri"/>
              </a:rPr>
              <a:t>A Learning Ecosystem For Environmental 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914400"/>
            <a:ext cx="7406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440" b="0" dirty="0">
                <a:solidFill>
                  <a:srgbClr val="41645C"/>
                </a:solidFill>
                <a:latin typeface="Calibri"/>
              </a:rPr>
              <a:t>Designed around the people who create, guide and experience sustainable learning.</a:t>
            </a:r>
          </a:p>
        </p:txBody>
      </p:sp>
      <p:pic>
        <p:nvPicPr>
          <p:cNvPr id="19" name="Picture 18" descr="2_StudentDashboard.png"/>
          <p:cNvPicPr>
            <a:picLocks noChangeAspect="1"/>
          </p:cNvPicPr>
          <p:nvPr/>
        </p:nvPicPr>
        <p:blipFill>
          <a:blip r:embed="rId4"/>
          <a:srcRect l="6409" r="6409"/>
          <a:stretch>
            <a:fillRect/>
          </a:stretch>
        </p:blipFill>
        <p:spPr>
          <a:xfrm>
            <a:off x="6748272" y="1417320"/>
            <a:ext cx="4572000" cy="4206240"/>
          </a:xfrm>
          <a:prstGeom prst="rect">
            <a:avLst/>
          </a:prstGeom>
          <a:ln>
            <a:solidFill/>
          </a:ln>
        </p:spPr>
      </p:pic>
      <p:sp>
        <p:nvSpPr>
          <p:cNvPr id="20" name="Rectangle 19"/>
          <p:cNvSpPr/>
          <p:nvPr/>
        </p:nvSpPr>
        <p:spPr>
          <a:xfrm>
            <a:off x="6748272" y="1417320"/>
            <a:ext cx="4572000" cy="4206240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13232" y="1572768"/>
            <a:ext cx="2578608" cy="107899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175564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2300" b="1">
                <a:solidFill>
                  <a:srgbClr val="11845B"/>
                </a:solidFill>
                <a:latin typeface="Courier New"/>
              </a:rPr>
              <a:t>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17373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70" b="1">
                <a:solidFill>
                  <a:srgbClr val="102A26"/>
                </a:solidFill>
                <a:latin typeface="Courier New"/>
              </a:rPr>
              <a:t>STUDENTS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2011680"/>
            <a:ext cx="1719072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50" b="0">
                <a:solidFill>
                  <a:srgbClr val="41645C"/>
                </a:solidFill>
                <a:latin typeface="Calibri"/>
              </a:rPr>
              <a:t>Explore modules, play games, complete missions and earn eco-points.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93591" y="1572768"/>
            <a:ext cx="2578608" cy="107899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758183" y="175564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2300" b="1">
                <a:solidFill>
                  <a:srgbClr val="2563EB"/>
                </a:solidFill>
                <a:latin typeface="Courier New"/>
              </a:rPr>
              <a:t>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59" y="17373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70" b="1">
                <a:solidFill>
                  <a:srgbClr val="102A26"/>
                </a:solidFill>
                <a:latin typeface="Courier New"/>
              </a:rPr>
              <a:t>TEACHERS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59" y="2011680"/>
            <a:ext cx="1719072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50" b="0">
                <a:solidFill>
                  <a:srgbClr val="41645C"/>
                </a:solidFill>
                <a:latin typeface="Calibri"/>
              </a:rPr>
              <a:t>Monitor classes, review progress and guide assignments.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2990088"/>
            <a:ext cx="2578608" cy="107899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7824" y="317296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2300" b="1">
                <a:solidFill>
                  <a:srgbClr val="6D28D9"/>
                </a:solidFill>
                <a:latin typeface="Courier New"/>
              </a:rPr>
              <a:t>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315468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70" b="1">
                <a:solidFill>
                  <a:srgbClr val="102A26"/>
                </a:solidFill>
                <a:latin typeface="Courier New"/>
              </a:rPr>
              <a:t>INSTITUTIONS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3429000"/>
            <a:ext cx="1719072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50" b="0">
                <a:solidFill>
                  <a:srgbClr val="41645C"/>
                </a:solidFill>
                <a:latin typeface="Calibri"/>
              </a:rPr>
              <a:t>Manage classes, teachers, students and leaderboards.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93591" y="2990088"/>
            <a:ext cx="2578608" cy="107899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758183" y="317296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2300" b="1">
                <a:solidFill>
                  <a:srgbClr val="B45309"/>
                </a:solidFill>
                <a:latin typeface="Courier New"/>
              </a:rPr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59" y="315468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70" b="1">
                <a:solidFill>
                  <a:srgbClr val="102A26"/>
                </a:solidFill>
                <a:latin typeface="Courier New"/>
              </a:rPr>
              <a:t>CONTENT FLOW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51959" y="3429000"/>
            <a:ext cx="1719072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50" b="0">
                <a:solidFill>
                  <a:srgbClr val="41645C"/>
                </a:solidFill>
                <a:latin typeface="Calibri"/>
              </a:rPr>
              <a:t>Articles and climate signals refresh learning material over time.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68172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102A26"/>
                </a:solidFill>
                <a:latin typeface="Calibri"/>
              </a:rPr>
              <a:t>Core product loop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5138928"/>
            <a:ext cx="932688" cy="45720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2959" y="5175504"/>
            <a:ext cx="786384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102A26"/>
                </a:solidFill>
                <a:latin typeface="Calibri"/>
              </a:rPr>
              <a:t>LEARN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764792" y="5285232"/>
            <a:ext cx="256032" cy="109728"/>
          </a:xfrm>
          <a:prstGeom prst="rightArrow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2103120" y="5138928"/>
            <a:ext cx="932688" cy="45720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176272" y="5175504"/>
            <a:ext cx="786384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102A26"/>
                </a:solidFill>
                <a:latin typeface="Calibri"/>
              </a:rPr>
              <a:t>PLAY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3118104" y="5285232"/>
            <a:ext cx="256032" cy="109728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3456432" y="5138928"/>
            <a:ext cx="932688" cy="45720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529584" y="5175504"/>
            <a:ext cx="786384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102A26"/>
                </a:solidFill>
                <a:latin typeface="Calibri"/>
              </a:rPr>
              <a:t>ACT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4471416" y="5285232"/>
            <a:ext cx="256032" cy="109728"/>
          </a:xfrm>
          <a:prstGeom prst="rightArrow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809744" y="5138928"/>
            <a:ext cx="932688" cy="45720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82896" y="5175504"/>
            <a:ext cx="786384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102A26"/>
                </a:solidFill>
                <a:latin typeface="Calibri"/>
              </a:rPr>
              <a:t>TRACK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6437376"/>
            <a:ext cx="11201400" cy="9144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02920" y="6492240"/>
            <a:ext cx="5943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Gamified learning | Role-aware dashboards | Realtime games | Environmental data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EduEarth Theme Background - product" descr="eduearth_bg_produc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0012680" y="658368"/>
            <a:ext cx="1005840" cy="91440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64240" y="658368"/>
            <a:ext cx="41148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58368" y="6080760"/>
            <a:ext cx="64008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89888" y="6080760"/>
            <a:ext cx="1097280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75720" y="1143000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75720" y="1344168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475720" y="1545336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75720" y="1746504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75720" y="1947672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>
                <a:solidFill>
                  <a:srgbClr val="41645C"/>
                </a:solidFill>
                <a:latin typeface="Calibri"/>
              </a:rPr>
              <a:t>EduEarth | Project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1120" b="1">
                <a:solidFill>
                  <a:srgbClr val="41645C"/>
                </a:solidFill>
                <a:latin typeface="Calibri"/>
              </a:rPr>
              <a:t>Product Snapshot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201168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120" b="1">
                <a:solidFill>
                  <a:srgbClr val="41645C"/>
                </a:solidFill>
                <a:latin typeface="Courier New"/>
              </a:rPr>
              <a:t>04 /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66928"/>
            <a:ext cx="73152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" y="566928"/>
            <a:ext cx="731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0664" y="566928"/>
            <a:ext cx="73152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749808"/>
            <a:ext cx="47548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900" b="1">
                <a:solidFill>
                  <a:srgbClr val="102A26"/>
                </a:solidFill>
                <a:latin typeface="Calibri"/>
              </a:rPr>
              <a:t>Product Experience Snapshot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1170432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340" b="0">
                <a:solidFill>
                  <a:srgbClr val="41645C"/>
                </a:solidFill>
                <a:latin typeface="Calibri"/>
              </a:rPr>
              <a:t>Screens captured from the implemented EduEarth app.</a:t>
            </a:r>
          </a:p>
        </p:txBody>
      </p:sp>
      <p:pic>
        <p:nvPicPr>
          <p:cNvPr id="19" name="Picture 18" descr="1_home.png"/>
          <p:cNvPicPr>
            <a:picLocks noChangeAspect="1"/>
          </p:cNvPicPr>
          <p:nvPr/>
        </p:nvPicPr>
        <p:blipFill>
          <a:blip r:embed="rId4"/>
          <a:srcRect t="3137" b="3137"/>
          <a:stretch>
            <a:fillRect/>
          </a:stretch>
        </p:blipFill>
        <p:spPr>
          <a:xfrm>
            <a:off x="713232" y="1572768"/>
            <a:ext cx="4800600" cy="2148840"/>
          </a:xfrm>
          <a:prstGeom prst="rect">
            <a:avLst/>
          </a:prstGeom>
          <a:ln>
            <a:solidFill/>
          </a:ln>
        </p:spPr>
      </p:pic>
      <p:sp>
        <p:nvSpPr>
          <p:cNvPr id="20" name="Rectangle 19"/>
          <p:cNvSpPr/>
          <p:nvPr/>
        </p:nvSpPr>
        <p:spPr>
          <a:xfrm>
            <a:off x="713232" y="1572768"/>
            <a:ext cx="4800600" cy="2148840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22960" y="1682495"/>
            <a:ext cx="960120" cy="25603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6112" y="1700784"/>
            <a:ext cx="813816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980" b="1">
                <a:solidFill>
                  <a:srgbClr val="102A26"/>
                </a:solidFill>
                <a:latin typeface="Calibri"/>
              </a:rPr>
              <a:t>HOME</a:t>
            </a:r>
          </a:p>
        </p:txBody>
      </p:sp>
      <p:pic>
        <p:nvPicPr>
          <p:cNvPr id="23" name="Picture 22" descr="3_TeacherDashboard.png"/>
          <p:cNvPicPr>
            <a:picLocks noChangeAspect="1"/>
          </p:cNvPicPr>
          <p:nvPr/>
        </p:nvPicPr>
        <p:blipFill>
          <a:blip r:embed="rId5"/>
          <a:srcRect l="11436" r="11436"/>
          <a:stretch>
            <a:fillRect/>
          </a:stretch>
        </p:blipFill>
        <p:spPr>
          <a:xfrm>
            <a:off x="5760720" y="1572768"/>
            <a:ext cx="2651760" cy="2148840"/>
          </a:xfrm>
          <a:prstGeom prst="rect">
            <a:avLst/>
          </a:prstGeom>
          <a:ln>
            <a:solidFill/>
          </a:ln>
        </p:spPr>
      </p:pic>
      <p:sp>
        <p:nvSpPr>
          <p:cNvPr id="24" name="Rectangle 23"/>
          <p:cNvSpPr/>
          <p:nvPr/>
        </p:nvSpPr>
        <p:spPr>
          <a:xfrm>
            <a:off x="5760720" y="1572768"/>
            <a:ext cx="2651760" cy="2148840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870448" y="1682495"/>
            <a:ext cx="960120" cy="25603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43600" y="1700784"/>
            <a:ext cx="813816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980" b="1">
                <a:solidFill>
                  <a:srgbClr val="102A26"/>
                </a:solidFill>
                <a:latin typeface="Calibri"/>
              </a:rPr>
              <a:t>TEACHER</a:t>
            </a:r>
          </a:p>
        </p:txBody>
      </p:sp>
      <p:pic>
        <p:nvPicPr>
          <p:cNvPr id="27" name="Picture 26" descr="5_Games.png"/>
          <p:cNvPicPr>
            <a:picLocks noChangeAspect="1"/>
          </p:cNvPicPr>
          <p:nvPr/>
        </p:nvPicPr>
        <p:blipFill>
          <a:blip r:embed="rId6"/>
          <a:srcRect l="9294" r="9294"/>
          <a:stretch>
            <a:fillRect/>
          </a:stretch>
        </p:blipFill>
        <p:spPr>
          <a:xfrm>
            <a:off x="8641080" y="1572768"/>
            <a:ext cx="2651760" cy="2148840"/>
          </a:xfrm>
          <a:prstGeom prst="rect">
            <a:avLst/>
          </a:prstGeom>
          <a:ln>
            <a:solidFill/>
          </a:ln>
        </p:spPr>
      </p:pic>
      <p:sp>
        <p:nvSpPr>
          <p:cNvPr id="28" name="Rectangle 27"/>
          <p:cNvSpPr/>
          <p:nvPr/>
        </p:nvSpPr>
        <p:spPr>
          <a:xfrm>
            <a:off x="8641080" y="1572768"/>
            <a:ext cx="2651760" cy="2148840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750807" y="1682495"/>
            <a:ext cx="960120" cy="25603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23959" y="1700784"/>
            <a:ext cx="813816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980" b="1">
                <a:solidFill>
                  <a:srgbClr val="102A26"/>
                </a:solidFill>
                <a:latin typeface="Calibri"/>
              </a:rPr>
              <a:t>GAMES</a:t>
            </a:r>
          </a:p>
        </p:txBody>
      </p:sp>
      <p:pic>
        <p:nvPicPr>
          <p:cNvPr id="31" name="Picture 30" descr="4_Articles.png"/>
          <p:cNvPicPr>
            <a:picLocks noChangeAspect="1"/>
          </p:cNvPicPr>
          <p:nvPr/>
        </p:nvPicPr>
        <p:blipFill>
          <a:blip r:embed="rId7"/>
          <a:srcRect l="4591" r="4591"/>
          <a:stretch>
            <a:fillRect/>
          </a:stretch>
        </p:blipFill>
        <p:spPr>
          <a:xfrm>
            <a:off x="713232" y="3977639"/>
            <a:ext cx="3246120" cy="1700784"/>
          </a:xfrm>
          <a:prstGeom prst="rect">
            <a:avLst/>
          </a:prstGeom>
          <a:ln>
            <a:solidFill/>
          </a:ln>
        </p:spPr>
      </p:pic>
      <p:sp>
        <p:nvSpPr>
          <p:cNvPr id="32" name="Rectangle 31"/>
          <p:cNvSpPr/>
          <p:nvPr/>
        </p:nvSpPr>
        <p:spPr>
          <a:xfrm>
            <a:off x="713232" y="3977639"/>
            <a:ext cx="3246120" cy="1700784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22960" y="4087368"/>
            <a:ext cx="1371600" cy="25603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4105655"/>
            <a:ext cx="1225296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980" b="1">
                <a:solidFill>
                  <a:srgbClr val="102A26"/>
                </a:solidFill>
                <a:latin typeface="Calibri"/>
              </a:rPr>
              <a:t>ARTICLES</a:t>
            </a:r>
          </a:p>
        </p:txBody>
      </p:sp>
      <p:pic>
        <p:nvPicPr>
          <p:cNvPr id="35" name="Picture 34" descr="6_Modules.png"/>
          <p:cNvPicPr>
            <a:picLocks noChangeAspect="1"/>
          </p:cNvPicPr>
          <p:nvPr/>
        </p:nvPicPr>
        <p:blipFill>
          <a:blip r:embed="rId8"/>
          <a:srcRect l="4750" r="4750"/>
          <a:stretch>
            <a:fillRect/>
          </a:stretch>
        </p:blipFill>
        <p:spPr>
          <a:xfrm>
            <a:off x="4187952" y="3977639"/>
            <a:ext cx="3246120" cy="1700784"/>
          </a:xfrm>
          <a:prstGeom prst="rect">
            <a:avLst/>
          </a:prstGeom>
          <a:ln>
            <a:solidFill/>
          </a:ln>
        </p:spPr>
      </p:pic>
      <p:sp>
        <p:nvSpPr>
          <p:cNvPr id="36" name="Rectangle 35"/>
          <p:cNvSpPr/>
          <p:nvPr/>
        </p:nvSpPr>
        <p:spPr>
          <a:xfrm>
            <a:off x="4187952" y="3977639"/>
            <a:ext cx="3246120" cy="1700784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297680" y="4087368"/>
            <a:ext cx="960120" cy="25603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70832" y="4105655"/>
            <a:ext cx="813816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980" b="1">
                <a:solidFill>
                  <a:srgbClr val="102A26"/>
                </a:solidFill>
                <a:latin typeface="Calibri"/>
              </a:rPr>
              <a:t>MODULES</a:t>
            </a:r>
          </a:p>
        </p:txBody>
      </p:sp>
      <p:pic>
        <p:nvPicPr>
          <p:cNvPr id="39" name="Picture 38" descr="11_Game_RecycleRush.png"/>
          <p:cNvPicPr>
            <a:picLocks noChangeAspect="1"/>
          </p:cNvPicPr>
          <p:nvPr/>
        </p:nvPicPr>
        <p:blipFill>
          <a:blip r:embed="rId9"/>
          <a:srcRect t="12329" b="12329"/>
          <a:stretch>
            <a:fillRect/>
          </a:stretch>
        </p:blipFill>
        <p:spPr>
          <a:xfrm>
            <a:off x="7662672" y="3977639"/>
            <a:ext cx="3611880" cy="1700784"/>
          </a:xfrm>
          <a:prstGeom prst="rect">
            <a:avLst/>
          </a:prstGeom>
          <a:ln>
            <a:solidFill/>
          </a:ln>
        </p:spPr>
      </p:pic>
      <p:sp>
        <p:nvSpPr>
          <p:cNvPr id="40" name="Rectangle 39"/>
          <p:cNvSpPr/>
          <p:nvPr/>
        </p:nvSpPr>
        <p:spPr>
          <a:xfrm>
            <a:off x="7662672" y="3977639"/>
            <a:ext cx="3611880" cy="1700784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7772400" y="4087368"/>
            <a:ext cx="1371600" cy="25603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845552" y="4105655"/>
            <a:ext cx="1225296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980" b="1">
                <a:solidFill>
                  <a:srgbClr val="102A26"/>
                </a:solidFill>
                <a:latin typeface="Calibri"/>
              </a:rPr>
              <a:t>RECYCLE RUSH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6437376"/>
            <a:ext cx="11201400" cy="9144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2920" y="6492240"/>
            <a:ext cx="5943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Gamified learning | Role-aware dashboards | Realtime games | Environmental data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EduEarth Theme Background - product" descr="eduearth_bg_produc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0012680" y="658368"/>
            <a:ext cx="1005840" cy="91440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64240" y="658368"/>
            <a:ext cx="41148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58368" y="6080760"/>
            <a:ext cx="64008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89888" y="6080760"/>
            <a:ext cx="1097280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75720" y="1143000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75720" y="1344168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475720" y="1545336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75720" y="1746504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75720" y="1947672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>
                <a:solidFill>
                  <a:srgbClr val="41645C"/>
                </a:solidFill>
                <a:latin typeface="Calibri"/>
              </a:rPr>
              <a:t>EduEarth | Project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1120" b="1">
                <a:solidFill>
                  <a:srgbClr val="41645C"/>
                </a:solidFill>
                <a:latin typeface="Calibri"/>
              </a:rPr>
              <a:t>UI/UX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201168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120" b="1">
                <a:solidFill>
                  <a:srgbClr val="41645C"/>
                </a:solidFill>
                <a:latin typeface="Courier New"/>
              </a:rPr>
              <a:t>05 /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66928"/>
            <a:ext cx="73152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" y="566928"/>
            <a:ext cx="731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0664" y="566928"/>
            <a:ext cx="73152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713232"/>
            <a:ext cx="667512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800" b="1">
                <a:solidFill>
                  <a:srgbClr val="102A26"/>
                </a:solidFill>
                <a:latin typeface="Calibri"/>
              </a:rPr>
              <a:t>User Journey &amp; Navigation 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1170432"/>
            <a:ext cx="7406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440" b="0">
                <a:solidFill>
                  <a:srgbClr val="41645C"/>
                </a:solidFill>
                <a:latin typeface="Calibri"/>
              </a:rPr>
              <a:t>From sign-in to action: the app keeps the learner path short and role-aware.</a:t>
            </a:r>
          </a:p>
        </p:txBody>
      </p:sp>
      <p:pic>
        <p:nvPicPr>
          <p:cNvPr id="19" name="Picture 18" descr="flow_authentic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600748"/>
            <a:ext cx="4937760" cy="2742102"/>
          </a:xfrm>
          <a:prstGeom prst="rect">
            <a:avLst/>
          </a:prstGeom>
          <a:ln>
            <a:solidFill/>
          </a:ln>
        </p:spPr>
      </p:pic>
      <p:sp>
        <p:nvSpPr>
          <p:cNvPr id="20" name="Rectangle 19"/>
          <p:cNvSpPr/>
          <p:nvPr/>
        </p:nvSpPr>
        <p:spPr>
          <a:xfrm>
            <a:off x="6400800" y="1600748"/>
            <a:ext cx="4937760" cy="2742102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13232" y="1591056"/>
            <a:ext cx="5257800" cy="585216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0392" y="1719072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11845B"/>
                </a:solidFill>
                <a:latin typeface="Courier New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1645920"/>
            <a:ext cx="4544568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 dirty="0">
                <a:solidFill>
                  <a:srgbClr val="102A26"/>
                </a:solidFill>
                <a:latin typeface="Calibri"/>
              </a:rPr>
              <a:t>LANDING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1837944"/>
            <a:ext cx="4544568" cy="82295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 dirty="0">
                <a:solidFill>
                  <a:srgbClr val="41645C"/>
                </a:solidFill>
                <a:latin typeface="Calibri"/>
              </a:rPr>
              <a:t>Brand-led entry point introduces </a:t>
            </a:r>
            <a:r>
              <a:rPr sz="1070" b="0" dirty="0" err="1">
                <a:solidFill>
                  <a:srgbClr val="41645C"/>
                </a:solidFill>
                <a:latin typeface="Calibri"/>
              </a:rPr>
              <a:t>EduEarth</a:t>
            </a:r>
            <a:r>
              <a:rPr sz="1070" b="0" dirty="0">
                <a:solidFill>
                  <a:srgbClr val="41645C"/>
                </a:solidFill>
                <a:latin typeface="Calibri"/>
              </a:rPr>
              <a:t> and routes users toward auth or dashboards.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2340864"/>
            <a:ext cx="5257800" cy="585216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0392" y="2468880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2563EB"/>
                </a:solidFill>
                <a:latin typeface="Courier New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2414016"/>
            <a:ext cx="4544568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 dirty="0">
                <a:solidFill>
                  <a:srgbClr val="102A26"/>
                </a:solidFill>
                <a:latin typeface="Calibri"/>
              </a:rPr>
              <a:t>ROLE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679192"/>
            <a:ext cx="4544568" cy="82295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 dirty="0">
                <a:solidFill>
                  <a:srgbClr val="41645C"/>
                </a:solidFill>
                <a:latin typeface="Calibri"/>
              </a:rPr>
              <a:t>Auth model supports student and teacher flows with </a:t>
            </a:r>
            <a:r>
              <a:rPr sz="1070" b="0" dirty="0" err="1">
                <a:solidFill>
                  <a:srgbClr val="41645C"/>
                </a:solidFill>
                <a:latin typeface="Calibri"/>
              </a:rPr>
              <a:t>Supabase</a:t>
            </a:r>
            <a:r>
              <a:rPr sz="1070" b="0" dirty="0">
                <a:solidFill>
                  <a:srgbClr val="41645C"/>
                </a:solidFill>
                <a:latin typeface="Calibri"/>
              </a:rPr>
              <a:t> callback handling.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3090672"/>
            <a:ext cx="5257800" cy="585216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0392" y="3218688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6D28D9"/>
                </a:solidFill>
                <a:latin typeface="Courier New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3172968"/>
            <a:ext cx="4544568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 dirty="0">
                <a:solidFill>
                  <a:srgbClr val="102A26"/>
                </a:solidFill>
                <a:latin typeface="Calibri"/>
              </a:rPr>
              <a:t>DASHBOARD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3447288"/>
            <a:ext cx="4544568" cy="82295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 dirty="0">
                <a:solidFill>
                  <a:srgbClr val="41645C"/>
                </a:solidFill>
                <a:latin typeface="Calibri"/>
              </a:rPr>
              <a:t>Users land on the right workspace: learning progress or class oversight.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3840480"/>
            <a:ext cx="5257800" cy="585216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50392" y="3968496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B45309"/>
                </a:solidFill>
                <a:latin typeface="Courier New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3959352"/>
            <a:ext cx="4544568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102A26"/>
                </a:solidFill>
                <a:latin typeface="Calibri"/>
              </a:rPr>
              <a:t>EXPLORE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4233672"/>
            <a:ext cx="4544568" cy="82295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>
                <a:solidFill>
                  <a:srgbClr val="41645C"/>
                </a:solidFill>
                <a:latin typeface="Calibri"/>
              </a:rPr>
              <a:t>Modules, articles and games create multiple ways to engage with the same topic.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3232" y="4590288"/>
            <a:ext cx="5257800" cy="585216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50392" y="4718303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11845B"/>
                </a:solidFill>
                <a:latin typeface="Courier New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" y="4709159"/>
            <a:ext cx="4544568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102A26"/>
                </a:solidFill>
                <a:latin typeface="Calibri"/>
              </a:rPr>
              <a:t>ACTION LOOP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4983479"/>
            <a:ext cx="4544568" cy="82295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>
                <a:solidFill>
                  <a:srgbClr val="41645C"/>
                </a:solidFill>
                <a:latin typeface="Calibri"/>
              </a:rPr>
              <a:t>Missions, assignments, quizzes and badges convert lessons into practice.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526280"/>
            <a:ext cx="2194560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102A26"/>
                </a:solidFill>
                <a:latin typeface="Calibri"/>
              </a:rPr>
              <a:t>Reference flow diagram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809744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70" b="0">
                <a:solidFill>
                  <a:srgbClr val="41645C"/>
                </a:solidFill>
                <a:latin typeface="Calibri"/>
              </a:rPr>
              <a:t>Authentication and automatic routing are backed by client-side Supabase session checks plus server token validation on protected mutations.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6437376"/>
            <a:ext cx="11201400" cy="9144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2920" y="6492240"/>
            <a:ext cx="5943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Gamified learning | Role-aware dashboards | Realtime games | Environmental data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EduEarth Theme Background - tech" descr="eduearth_bg_te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0012680" y="658368"/>
            <a:ext cx="1005840" cy="91440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64240" y="658368"/>
            <a:ext cx="41148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58368" y="6080760"/>
            <a:ext cx="64008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89888" y="6080760"/>
            <a:ext cx="1097280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75720" y="1143000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75720" y="1344168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475720" y="1545336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75720" y="1746504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75720" y="1947672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>
                <a:solidFill>
                  <a:srgbClr val="41645C"/>
                </a:solidFill>
                <a:latin typeface="Calibri"/>
              </a:rPr>
              <a:t>EduEarth | Project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1120" b="1">
                <a:solidFill>
                  <a:srgbClr val="41645C"/>
                </a:solidFill>
                <a:latin typeface="Calibri"/>
              </a:rP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201168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120" b="1">
                <a:solidFill>
                  <a:srgbClr val="41645C"/>
                </a:solidFill>
                <a:latin typeface="Courier New"/>
              </a:rPr>
              <a:t>06 /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66928"/>
            <a:ext cx="73152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" y="566928"/>
            <a:ext cx="731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0664" y="566928"/>
            <a:ext cx="73152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713232"/>
            <a:ext cx="667512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800" b="1">
                <a:solidFill>
                  <a:srgbClr val="102A26"/>
                </a:solidFill>
                <a:latin typeface="Calibri"/>
              </a:rPr>
              <a:t>Frontend | Layered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1170432"/>
            <a:ext cx="7406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440" b="0">
                <a:solidFill>
                  <a:srgbClr val="41645C"/>
                </a:solidFill>
                <a:latin typeface="Calibri"/>
              </a:rPr>
              <a:t>Next.js app router, reusable components and motion-focused product screens.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" y="1517904"/>
            <a:ext cx="5285232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87552" y="1673351"/>
            <a:ext cx="1024128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70" b="1">
                <a:solidFill>
                  <a:srgbClr val="11845B"/>
                </a:solidFill>
                <a:latin typeface="Courier New"/>
              </a:rPr>
              <a:t>PAGES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4831" y="1645919"/>
            <a:ext cx="370332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39" b="0">
                <a:solidFill>
                  <a:srgbClr val="102A26"/>
                </a:solidFill>
                <a:latin typeface="Calibri"/>
              </a:rPr>
              <a:t>App Router routes: home, auth, dashboards, modules, games, articles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127248" y="2148839"/>
            <a:ext cx="384048" cy="128016"/>
          </a:xfrm>
          <a:prstGeom prst="rightArrow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86384" y="2322576"/>
            <a:ext cx="5285232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87552" y="2478024"/>
            <a:ext cx="1024128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70" b="1">
                <a:solidFill>
                  <a:srgbClr val="2563EB"/>
                </a:solidFill>
                <a:latin typeface="Courier New"/>
              </a:rPr>
              <a:t>COMPONENTS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4831" y="2450592"/>
            <a:ext cx="370332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39" b="0">
                <a:solidFill>
                  <a:srgbClr val="102A26"/>
                </a:solidFill>
                <a:latin typeface="Calibri"/>
              </a:rPr>
              <a:t>Navbar, hero, dashboards, cards, game UIs, auth provider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127248" y="2953512"/>
            <a:ext cx="384048" cy="128016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86384" y="3127248"/>
            <a:ext cx="5285232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87552" y="3282696"/>
            <a:ext cx="1024128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70" b="1">
                <a:solidFill>
                  <a:srgbClr val="6D28D9"/>
                </a:solidFill>
                <a:latin typeface="Courier New"/>
              </a:rPr>
              <a:t>CLIENT LIB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1" y="3255264"/>
            <a:ext cx="370332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39" b="0">
                <a:solidFill>
                  <a:srgbClr val="102A26"/>
                </a:solidFill>
                <a:latin typeface="Calibri"/>
              </a:rPr>
              <a:t>API wrapper, Supabase browser client, typed module data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127248" y="3758183"/>
            <a:ext cx="384048" cy="128016"/>
          </a:xfrm>
          <a:prstGeom prst="rightArrow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786384" y="3931920"/>
            <a:ext cx="5285232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87552" y="4087368"/>
            <a:ext cx="1024128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70" b="1">
                <a:solidFill>
                  <a:srgbClr val="B45309"/>
                </a:solidFill>
                <a:latin typeface="Courier New"/>
              </a:rPr>
              <a:t>VISUAL ASSETS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1" y="4059935"/>
            <a:ext cx="370332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39" b="0">
                <a:solidFill>
                  <a:srgbClr val="102A26"/>
                </a:solidFill>
                <a:latin typeface="Calibri"/>
              </a:rPr>
              <a:t>Screenshots, game sprites, logos, backgrounds and icons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37960" y="1572768"/>
            <a:ext cx="2057400" cy="53035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02552" y="1728216"/>
            <a:ext cx="1572768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102A26"/>
                </a:solidFill>
                <a:latin typeface="Calibri"/>
              </a:rPr>
              <a:t>Next.js 15</a:t>
            </a:r>
          </a:p>
        </p:txBody>
      </p:sp>
      <p:sp>
        <p:nvSpPr>
          <p:cNvPr id="36" name="Oval 35"/>
          <p:cNvSpPr/>
          <p:nvPr/>
        </p:nvSpPr>
        <p:spPr>
          <a:xfrm>
            <a:off x="8257032" y="1746504"/>
            <a:ext cx="146304" cy="146304"/>
          </a:xfrm>
          <a:prstGeom prst="ellipse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8869680" y="1572768"/>
            <a:ext cx="2057400" cy="53035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034272" y="1728216"/>
            <a:ext cx="1572768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102A26"/>
                </a:solidFill>
                <a:latin typeface="Calibri"/>
              </a:rPr>
              <a:t>React 19</a:t>
            </a:r>
          </a:p>
        </p:txBody>
      </p:sp>
      <p:sp>
        <p:nvSpPr>
          <p:cNvPr id="39" name="Oval 38"/>
          <p:cNvSpPr/>
          <p:nvPr/>
        </p:nvSpPr>
        <p:spPr>
          <a:xfrm>
            <a:off x="10588751" y="1746504"/>
            <a:ext cx="146304" cy="14630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537960" y="2359152"/>
            <a:ext cx="2057400" cy="53035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702552" y="2514600"/>
            <a:ext cx="1572768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102A26"/>
                </a:solidFill>
                <a:latin typeface="Calibri"/>
              </a:rPr>
              <a:t>Tailwind CSS 4</a:t>
            </a:r>
          </a:p>
        </p:txBody>
      </p:sp>
      <p:sp>
        <p:nvSpPr>
          <p:cNvPr id="42" name="Oval 41"/>
          <p:cNvSpPr/>
          <p:nvPr/>
        </p:nvSpPr>
        <p:spPr>
          <a:xfrm>
            <a:off x="8257032" y="2532888"/>
            <a:ext cx="146304" cy="14630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869680" y="2359152"/>
            <a:ext cx="2057400" cy="53035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034272" y="2514600"/>
            <a:ext cx="1572768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102A26"/>
                </a:solidFill>
                <a:latin typeface="Calibri"/>
              </a:rPr>
              <a:t>Framer Motion</a:t>
            </a:r>
          </a:p>
        </p:txBody>
      </p:sp>
      <p:sp>
        <p:nvSpPr>
          <p:cNvPr id="45" name="Oval 44"/>
          <p:cNvSpPr/>
          <p:nvPr/>
        </p:nvSpPr>
        <p:spPr>
          <a:xfrm>
            <a:off x="10588751" y="2532888"/>
            <a:ext cx="146304" cy="146304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6537960" y="3145536"/>
            <a:ext cx="2057400" cy="53035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702552" y="3300984"/>
            <a:ext cx="1572768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102A26"/>
                </a:solidFill>
                <a:latin typeface="Calibri"/>
              </a:rPr>
              <a:t>Lucide / React Icons</a:t>
            </a:r>
          </a:p>
        </p:txBody>
      </p:sp>
      <p:sp>
        <p:nvSpPr>
          <p:cNvPr id="48" name="Oval 47"/>
          <p:cNvSpPr/>
          <p:nvPr/>
        </p:nvSpPr>
        <p:spPr>
          <a:xfrm>
            <a:off x="8257032" y="3319272"/>
            <a:ext cx="146304" cy="146304"/>
          </a:xfrm>
          <a:prstGeom prst="ellipse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8869680" y="3145536"/>
            <a:ext cx="2057400" cy="53035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034272" y="3300984"/>
            <a:ext cx="1572768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102A26"/>
                </a:solidFill>
                <a:latin typeface="Calibri"/>
              </a:rPr>
              <a:t>TypeScript</a:t>
            </a:r>
          </a:p>
        </p:txBody>
      </p:sp>
      <p:sp>
        <p:nvSpPr>
          <p:cNvPr id="51" name="Oval 50"/>
          <p:cNvSpPr/>
          <p:nvPr/>
        </p:nvSpPr>
        <p:spPr>
          <a:xfrm>
            <a:off x="10588751" y="3319272"/>
            <a:ext cx="146304" cy="14630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2" name="Picture 51" descr="12_CourseDetail.png"/>
          <p:cNvPicPr>
            <a:picLocks noChangeAspect="1"/>
          </p:cNvPicPr>
          <p:nvPr/>
        </p:nvPicPr>
        <p:blipFill>
          <a:blip r:embed="rId4"/>
          <a:srcRect t="35585" b="35585"/>
          <a:stretch>
            <a:fillRect/>
          </a:stretch>
        </p:blipFill>
        <p:spPr>
          <a:xfrm>
            <a:off x="6537960" y="4160520"/>
            <a:ext cx="4407408" cy="1234440"/>
          </a:xfrm>
          <a:prstGeom prst="rect">
            <a:avLst/>
          </a:prstGeom>
          <a:ln>
            <a:solidFill/>
          </a:ln>
        </p:spPr>
      </p:pic>
      <p:sp>
        <p:nvSpPr>
          <p:cNvPr id="53" name="Rectangle 52"/>
          <p:cNvSpPr/>
          <p:nvPr/>
        </p:nvSpPr>
        <p:spPr>
          <a:xfrm>
            <a:off x="6537960" y="4160520"/>
            <a:ext cx="4407408" cy="1234440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547104" y="5532120"/>
            <a:ext cx="420624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89" b="0">
                <a:solidFill>
                  <a:srgbClr val="41645C"/>
                </a:solidFill>
                <a:latin typeface="Calibri"/>
              </a:rPr>
              <a:t>Course detail and module UI reuse the same content model.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6437376"/>
            <a:ext cx="11201400" cy="9144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02920" y="6492240"/>
            <a:ext cx="5943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Gamified learning | Role-aware dashboards | Realtime games | Environmental data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EduEarth Theme Background - tech" descr="eduearth_bg_te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0012680" y="658368"/>
            <a:ext cx="1005840" cy="91440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64240" y="658368"/>
            <a:ext cx="41148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58368" y="6080760"/>
            <a:ext cx="64008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89888" y="6080760"/>
            <a:ext cx="1097280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75720" y="1143000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75720" y="1344168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475720" y="1545336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75720" y="1746504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75720" y="1947672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>
                <a:solidFill>
                  <a:srgbClr val="41645C"/>
                </a:solidFill>
                <a:latin typeface="Calibri"/>
              </a:rPr>
              <a:t>EduEarth | Project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1120" b="1">
                <a:solidFill>
                  <a:srgbClr val="41645C"/>
                </a:solidFill>
                <a:latin typeface="Calibri"/>
              </a:rPr>
              <a:t>Frontend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201168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120" b="1">
                <a:solidFill>
                  <a:srgbClr val="41645C"/>
                </a:solidFill>
                <a:latin typeface="Courier New"/>
              </a:rPr>
              <a:t>07 /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66928"/>
            <a:ext cx="73152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" y="566928"/>
            <a:ext cx="731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0664" y="566928"/>
            <a:ext cx="73152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713232"/>
            <a:ext cx="667512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800" b="1">
                <a:solidFill>
                  <a:srgbClr val="102A26"/>
                </a:solidFill>
                <a:latin typeface="Calibri"/>
              </a:rPr>
              <a:t>Frontend | Navigation 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1170432"/>
            <a:ext cx="7406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440" b="0">
                <a:solidFill>
                  <a:srgbClr val="41645C"/>
                </a:solidFill>
                <a:latin typeface="Calibri"/>
              </a:rPr>
              <a:t>Session-aware routing connects users to the correct product area.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1554480"/>
            <a:ext cx="1143000" cy="50292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" y="1591056"/>
            <a:ext cx="996696" cy="4297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102A26"/>
                </a:solidFill>
                <a:latin typeface="Calibri"/>
              </a:rPr>
              <a:t>Open App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057400" y="1737360"/>
            <a:ext cx="310896" cy="118872"/>
          </a:xfrm>
          <a:prstGeom prst="rightArrow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487168" y="1554480"/>
            <a:ext cx="1920240" cy="50292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560320" y="1591056"/>
            <a:ext cx="1773936" cy="4297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102A26"/>
                </a:solidFill>
                <a:latin typeface="Calibri"/>
              </a:rPr>
              <a:t>Check Supabase Session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535424" y="1737360"/>
            <a:ext cx="310896" cy="118872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956048" y="1536192"/>
            <a:ext cx="914400" cy="548640"/>
          </a:xfrm>
          <a:prstGeom prst="roundRect">
            <a:avLst/>
          </a:prstGeom>
          <a:solidFill>
            <a:srgbClr val="DFF5E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0" y="1572768"/>
            <a:ext cx="768096" cy="47548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116A46"/>
                </a:solidFill>
                <a:latin typeface="Calibri"/>
              </a:rPr>
              <a:t>Role?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1078992"/>
            <a:ext cx="1828800" cy="53035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1115568"/>
            <a:ext cx="1682496" cy="457199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102A26"/>
                </a:solidFill>
                <a:latin typeface="Calibri"/>
              </a:rPr>
              <a:t>Student Dashboard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2011680"/>
            <a:ext cx="1828800" cy="53035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73952" y="2048256"/>
            <a:ext cx="1682496" cy="457199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102A26"/>
                </a:solidFill>
                <a:latin typeface="Calibri"/>
              </a:rPr>
              <a:t>Teacher Dashboard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87952" y="2889504"/>
            <a:ext cx="1572768" cy="530352"/>
          </a:xfrm>
          <a:prstGeom prst="roundRect">
            <a:avLst/>
          </a:prstGeom>
          <a:solidFill>
            <a:srgbClr val="FFF3D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261104" y="2926080"/>
            <a:ext cx="1426464" cy="457199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B45309"/>
                </a:solidFill>
                <a:latin typeface="Calibri"/>
              </a:rPr>
              <a:t>Auth Model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69680" y="786384"/>
            <a:ext cx="1234440" cy="47548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42832" y="822960"/>
            <a:ext cx="1088136" cy="40233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102A26"/>
                </a:solidFill>
                <a:latin typeface="Calibri"/>
              </a:rPr>
              <a:t>Modules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69680" y="1389888"/>
            <a:ext cx="1234440" cy="47548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942832" y="1426464"/>
            <a:ext cx="1088136" cy="40233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102A26"/>
                </a:solidFill>
                <a:latin typeface="Calibri"/>
              </a:rPr>
              <a:t>Games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9680" y="1993392"/>
            <a:ext cx="1234440" cy="47548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942832" y="2029968"/>
            <a:ext cx="1088136" cy="40233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102A26"/>
                </a:solidFill>
                <a:latin typeface="Calibri"/>
              </a:rPr>
              <a:t>Articles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69680" y="2596896"/>
            <a:ext cx="1234440" cy="47548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42832" y="2633472"/>
            <a:ext cx="1088136" cy="40233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102A26"/>
                </a:solidFill>
                <a:latin typeface="Calibri"/>
              </a:rPr>
              <a:t>Classes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5961888" y="1261872"/>
            <a:ext cx="292608" cy="109728"/>
          </a:xfrm>
          <a:prstGeom prst="rightArrow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ight Arrow 41"/>
          <p:cNvSpPr/>
          <p:nvPr/>
        </p:nvSpPr>
        <p:spPr>
          <a:xfrm>
            <a:off x="5961888" y="2212848"/>
            <a:ext cx="292608" cy="109728"/>
          </a:xfrm>
          <a:prstGeom prst="rightArrow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ight Arrow 42"/>
          <p:cNvSpPr/>
          <p:nvPr/>
        </p:nvSpPr>
        <p:spPr>
          <a:xfrm>
            <a:off x="5641848" y="2743200"/>
            <a:ext cx="292608" cy="109728"/>
          </a:xfrm>
          <a:prstGeom prst="rightArrow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ight Arrow 43"/>
          <p:cNvSpPr/>
          <p:nvPr/>
        </p:nvSpPr>
        <p:spPr>
          <a:xfrm>
            <a:off x="8357616" y="1234440"/>
            <a:ext cx="292608" cy="109728"/>
          </a:xfrm>
          <a:prstGeom prst="rightArrow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ight Arrow 44"/>
          <p:cNvSpPr/>
          <p:nvPr/>
        </p:nvSpPr>
        <p:spPr>
          <a:xfrm>
            <a:off x="8357616" y="2167128"/>
            <a:ext cx="292608" cy="109728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46" name="Picture 45" descr="2_StudentDashboard.png"/>
          <p:cNvPicPr>
            <a:picLocks noChangeAspect="1"/>
          </p:cNvPicPr>
          <p:nvPr/>
        </p:nvPicPr>
        <p:blipFill>
          <a:blip r:embed="rId4"/>
          <a:srcRect t="21026" b="21026"/>
          <a:stretch>
            <a:fillRect/>
          </a:stretch>
        </p:blipFill>
        <p:spPr>
          <a:xfrm>
            <a:off x="868680" y="3886200"/>
            <a:ext cx="3246120" cy="1508760"/>
          </a:xfrm>
          <a:prstGeom prst="rect">
            <a:avLst/>
          </a:prstGeom>
          <a:ln>
            <a:solidFill/>
          </a:ln>
        </p:spPr>
      </p:pic>
      <p:sp>
        <p:nvSpPr>
          <p:cNvPr id="47" name="Rectangle 46"/>
          <p:cNvSpPr/>
          <p:nvPr/>
        </p:nvSpPr>
        <p:spPr>
          <a:xfrm>
            <a:off x="868680" y="3886200"/>
            <a:ext cx="3246120" cy="1508760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987552" y="4005072"/>
            <a:ext cx="786384" cy="228600"/>
          </a:xfrm>
          <a:prstGeom prst="roundRect">
            <a:avLst/>
          </a:prstGeom>
          <a:solidFill>
            <a:srgbClr val="11845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60704" y="4023359"/>
            <a:ext cx="640080" cy="1920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990" b="1">
                <a:solidFill>
                  <a:srgbClr val="102A26"/>
                </a:solidFill>
                <a:latin typeface="Calibri"/>
              </a:rPr>
              <a:t>STUDENT</a:t>
            </a:r>
          </a:p>
        </p:txBody>
      </p:sp>
      <p:pic>
        <p:nvPicPr>
          <p:cNvPr id="50" name="Picture 49" descr="3_TeacherDashboard.png"/>
          <p:cNvPicPr>
            <a:picLocks noChangeAspect="1"/>
          </p:cNvPicPr>
          <p:nvPr/>
        </p:nvPicPr>
        <p:blipFill>
          <a:blip r:embed="rId5"/>
          <a:srcRect t="12817" b="12817"/>
          <a:stretch>
            <a:fillRect/>
          </a:stretch>
        </p:blipFill>
        <p:spPr>
          <a:xfrm>
            <a:off x="4443984" y="3886200"/>
            <a:ext cx="3246120" cy="1508760"/>
          </a:xfrm>
          <a:prstGeom prst="rect">
            <a:avLst/>
          </a:prstGeom>
          <a:ln>
            <a:solidFill/>
          </a:ln>
        </p:spPr>
      </p:pic>
      <p:sp>
        <p:nvSpPr>
          <p:cNvPr id="51" name="Rectangle 50"/>
          <p:cNvSpPr/>
          <p:nvPr/>
        </p:nvSpPr>
        <p:spPr>
          <a:xfrm>
            <a:off x="4443984" y="3886200"/>
            <a:ext cx="3246120" cy="1508760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4562856" y="4005072"/>
            <a:ext cx="786384" cy="228600"/>
          </a:xfrm>
          <a:prstGeom prst="roundRect">
            <a:avLst/>
          </a:prstGeom>
          <a:solidFill>
            <a:srgbClr val="2563E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636008" y="4023359"/>
            <a:ext cx="640080" cy="1920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990" b="1">
                <a:solidFill>
                  <a:srgbClr val="102A26"/>
                </a:solidFill>
                <a:latin typeface="Calibri"/>
              </a:rPr>
              <a:t>TEACHER</a:t>
            </a:r>
          </a:p>
        </p:txBody>
      </p:sp>
      <p:pic>
        <p:nvPicPr>
          <p:cNvPr id="54" name="Picture 53" descr="5_Games.png"/>
          <p:cNvPicPr>
            <a:picLocks noChangeAspect="1"/>
          </p:cNvPicPr>
          <p:nvPr/>
        </p:nvPicPr>
        <p:blipFill>
          <a:blip r:embed="rId6"/>
          <a:srcRect t="14774" b="14774"/>
          <a:stretch>
            <a:fillRect/>
          </a:stretch>
        </p:blipFill>
        <p:spPr>
          <a:xfrm>
            <a:off x="8010144" y="3886200"/>
            <a:ext cx="3246120" cy="1508760"/>
          </a:xfrm>
          <a:prstGeom prst="rect">
            <a:avLst/>
          </a:prstGeom>
          <a:ln>
            <a:solidFill/>
          </a:ln>
        </p:spPr>
      </p:pic>
      <p:sp>
        <p:nvSpPr>
          <p:cNvPr id="55" name="Rectangle 54"/>
          <p:cNvSpPr/>
          <p:nvPr/>
        </p:nvSpPr>
        <p:spPr>
          <a:xfrm>
            <a:off x="8010144" y="3886200"/>
            <a:ext cx="3246120" cy="1508760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8129016" y="4005072"/>
            <a:ext cx="786384" cy="228600"/>
          </a:xfrm>
          <a:prstGeom prst="roundRect">
            <a:avLst/>
          </a:prstGeom>
          <a:solidFill>
            <a:srgbClr val="6D28D9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202168" y="4023359"/>
            <a:ext cx="640080" cy="1920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990" b="1">
                <a:solidFill>
                  <a:srgbClr val="102A26"/>
                </a:solidFill>
                <a:latin typeface="Calibri"/>
              </a:rPr>
              <a:t>GAMES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6437376"/>
            <a:ext cx="11201400" cy="9144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02920" y="6492240"/>
            <a:ext cx="5943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Gamified learning | Role-aware dashboards | Realtime games | Environmental data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EduEarth Theme Background - story" descr="eduearth_bg_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0012680" y="658368"/>
            <a:ext cx="1005840" cy="91440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64240" y="658368"/>
            <a:ext cx="41148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58368" y="6080760"/>
            <a:ext cx="64008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89888" y="6080760"/>
            <a:ext cx="1097280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75720" y="1143000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75720" y="1344168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475720" y="1545336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75720" y="1746504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75720" y="1947672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>
                <a:solidFill>
                  <a:srgbClr val="41645C"/>
                </a:solidFill>
                <a:latin typeface="Calibri"/>
              </a:rPr>
              <a:t>EduEarth | Project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1120" b="1">
                <a:solidFill>
                  <a:srgbClr val="41645C"/>
                </a:solidFill>
                <a:latin typeface="Calibri"/>
              </a:rPr>
              <a:t>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201168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120" b="1">
                <a:solidFill>
                  <a:srgbClr val="41645C"/>
                </a:solidFill>
                <a:latin typeface="Courier New"/>
              </a:rPr>
              <a:t>08 /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66928"/>
            <a:ext cx="73152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" y="566928"/>
            <a:ext cx="731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0664" y="566928"/>
            <a:ext cx="73152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713232"/>
            <a:ext cx="667512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800" b="1">
                <a:solidFill>
                  <a:srgbClr val="102A26"/>
                </a:solidFill>
                <a:latin typeface="Calibri"/>
              </a:rPr>
              <a:t>Learning Modules &amp; Gamification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1170432"/>
            <a:ext cx="7406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440" b="0">
                <a:solidFill>
                  <a:srgbClr val="41645C"/>
                </a:solidFill>
                <a:latin typeface="Calibri"/>
              </a:rPr>
              <a:t>Curriculum breadth plus visible rewards keeps environmental topics actionable.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1481328"/>
            <a:ext cx="1298448" cy="86868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" y="1591056"/>
            <a:ext cx="969264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800" b="1" dirty="0">
                <a:solidFill>
                  <a:srgbClr val="11845B"/>
                </a:solidFill>
                <a:latin typeface="Courier New"/>
              </a:rPr>
              <a:t>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1965960"/>
            <a:ext cx="9692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 dirty="0">
                <a:solidFill>
                  <a:srgbClr val="41645C"/>
                </a:solidFill>
                <a:latin typeface="Calibri"/>
              </a:rPr>
              <a:t>MODULE CATALOG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31136" y="1481328"/>
            <a:ext cx="1508760" cy="86868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395728" y="1591056"/>
            <a:ext cx="1179576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800" b="1" dirty="0">
                <a:solidFill>
                  <a:srgbClr val="2563EB"/>
                </a:solidFill>
                <a:latin typeface="Courier New"/>
              </a:rPr>
              <a:t>428K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5728" y="1975104"/>
            <a:ext cx="1179576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 dirty="0">
                <a:solidFill>
                  <a:srgbClr val="41645C"/>
                </a:solidFill>
                <a:latin typeface="Calibri"/>
              </a:rPr>
              <a:t>SAMPLE ENROLLMENTS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50208" y="1481328"/>
            <a:ext cx="1298448" cy="86868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0" y="1581912"/>
            <a:ext cx="969264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800" b="1" dirty="0">
                <a:solidFill>
                  <a:srgbClr val="6D28D9"/>
                </a:solidFill>
                <a:latin typeface="Courier New"/>
              </a:rPr>
              <a:t>4.76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1975104"/>
            <a:ext cx="9692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 dirty="0">
                <a:solidFill>
                  <a:srgbClr val="41645C"/>
                </a:solidFill>
                <a:latin typeface="Calibri"/>
              </a:rPr>
              <a:t>AVERAGE RATING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270662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440" b="1">
                <a:solidFill>
                  <a:srgbClr val="102A26"/>
                </a:solidFill>
                <a:latin typeface="Calibri"/>
              </a:rPr>
              <a:t>Module categories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3063240"/>
            <a:ext cx="169164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39" b="0">
                <a:solidFill>
                  <a:srgbClr val="41645C"/>
                </a:solidFill>
                <a:latin typeface="Calibri"/>
              </a:rPr>
              <a:t>Sustainability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33472" y="3090672"/>
            <a:ext cx="2103120" cy="8229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633472" y="3090672"/>
            <a:ext cx="2057400" cy="82296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8032" y="3044952"/>
            <a:ext cx="237744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ourier New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3392424"/>
            <a:ext cx="169164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39" b="0">
                <a:solidFill>
                  <a:srgbClr val="41645C"/>
                </a:solidFill>
                <a:latin typeface="Calibri"/>
              </a:rPr>
              <a:t>Global Environmental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33472" y="3419856"/>
            <a:ext cx="2103120" cy="8229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633472" y="3419856"/>
            <a:ext cx="1763485" cy="822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28032" y="3374136"/>
            <a:ext cx="237744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ourier New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3721608"/>
            <a:ext cx="169164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39" b="0">
                <a:solidFill>
                  <a:srgbClr val="41645C"/>
                </a:solidFill>
                <a:latin typeface="Calibri"/>
              </a:rPr>
              <a:t>Energy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33472" y="3749040"/>
            <a:ext cx="2103120" cy="8229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2633472" y="3749040"/>
            <a:ext cx="1469571" cy="8229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828032" y="3703320"/>
            <a:ext cx="237744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ourier New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" y="4050791"/>
            <a:ext cx="169164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39" b="0">
                <a:solidFill>
                  <a:srgbClr val="41645C"/>
                </a:solidFill>
                <a:latin typeface="Calibri"/>
              </a:rPr>
              <a:t>Pollution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33472" y="4078224"/>
            <a:ext cx="2103120" cy="8229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2633472" y="4078224"/>
            <a:ext cx="1469571" cy="8229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828032" y="4032504"/>
            <a:ext cx="237744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ourier New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4379976"/>
            <a:ext cx="169164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39" b="0">
                <a:solidFill>
                  <a:srgbClr val="41645C"/>
                </a:solidFill>
                <a:latin typeface="Calibri"/>
              </a:rPr>
              <a:t>Biodiversity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33472" y="4407408"/>
            <a:ext cx="2103120" cy="8229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2633472" y="4407408"/>
            <a:ext cx="1175657" cy="82296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28032" y="4361688"/>
            <a:ext cx="237744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ourier New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4709160"/>
            <a:ext cx="169164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39" b="0">
                <a:solidFill>
                  <a:srgbClr val="41645C"/>
                </a:solidFill>
                <a:latin typeface="Calibri"/>
              </a:rPr>
              <a:t>Climate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33472" y="4736592"/>
            <a:ext cx="2103120" cy="8229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2633472" y="4736592"/>
            <a:ext cx="881742" cy="822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828032" y="4690872"/>
            <a:ext cx="237744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ourier New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4672" y="5038344"/>
            <a:ext cx="169164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39" b="0">
                <a:solidFill>
                  <a:srgbClr val="41645C"/>
                </a:solidFill>
                <a:latin typeface="Calibri"/>
              </a:rPr>
              <a:t>Weather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33472" y="5065776"/>
            <a:ext cx="2103120" cy="8229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2633472" y="5065776"/>
            <a:ext cx="293914" cy="8229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828032" y="5020056"/>
            <a:ext cx="237744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ourier New"/>
              </a:rPr>
              <a:t>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50992" y="1444752"/>
            <a:ext cx="5486400" cy="452628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8" name="Picture 57" descr="6_Modules.png"/>
          <p:cNvPicPr>
            <a:picLocks noChangeAspect="1"/>
          </p:cNvPicPr>
          <p:nvPr/>
        </p:nvPicPr>
        <p:blipFill>
          <a:blip r:embed="rId4"/>
          <a:srcRect l="17757" r="17757"/>
          <a:stretch>
            <a:fillRect/>
          </a:stretch>
        </p:blipFill>
        <p:spPr>
          <a:xfrm>
            <a:off x="5870448" y="1682496"/>
            <a:ext cx="2487168" cy="1828800"/>
          </a:xfrm>
          <a:prstGeom prst="rect">
            <a:avLst/>
          </a:prstGeom>
          <a:ln>
            <a:solidFill/>
          </a:ln>
        </p:spPr>
      </p:pic>
      <p:sp>
        <p:nvSpPr>
          <p:cNvPr id="59" name="Rectangle 58"/>
          <p:cNvSpPr/>
          <p:nvPr/>
        </p:nvSpPr>
        <p:spPr>
          <a:xfrm>
            <a:off x="5870448" y="1682496"/>
            <a:ext cx="2487168" cy="1828800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60" name="Picture 59" descr="12_CourseDetail.png"/>
          <p:cNvPicPr>
            <a:picLocks noChangeAspect="1"/>
          </p:cNvPicPr>
          <p:nvPr/>
        </p:nvPicPr>
        <p:blipFill>
          <a:blip r:embed="rId5"/>
          <a:srcRect t="10104" b="10104"/>
          <a:stretch>
            <a:fillRect/>
          </a:stretch>
        </p:blipFill>
        <p:spPr>
          <a:xfrm>
            <a:off x="8522208" y="1682496"/>
            <a:ext cx="2359152" cy="1828800"/>
          </a:xfrm>
          <a:prstGeom prst="rect">
            <a:avLst/>
          </a:prstGeom>
          <a:ln>
            <a:solidFill/>
          </a:ln>
        </p:spPr>
      </p:pic>
      <p:sp>
        <p:nvSpPr>
          <p:cNvPr id="61" name="Rectangle 60"/>
          <p:cNvSpPr/>
          <p:nvPr/>
        </p:nvSpPr>
        <p:spPr>
          <a:xfrm>
            <a:off x="8522208" y="1682496"/>
            <a:ext cx="2359152" cy="1828800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870448" y="3822191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70" b="1">
                <a:solidFill>
                  <a:srgbClr val="102A26"/>
                </a:solidFill>
                <a:latin typeface="Calibri"/>
              </a:rPr>
              <a:t>Assignments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70448" y="4041648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Due dates, status and grading flow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22208" y="3822191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70" b="1">
                <a:solidFill>
                  <a:srgbClr val="102A26"/>
                </a:solidFill>
                <a:latin typeface="Calibri"/>
              </a:rPr>
              <a:t>Missions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22208" y="4041648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Community actions and XP rewards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70448" y="4480559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70" b="1">
                <a:solidFill>
                  <a:srgbClr val="102A26"/>
                </a:solidFill>
                <a:latin typeface="Calibri"/>
              </a:rPr>
              <a:t>Badges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70448" y="4700016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Achievement model for consistency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22208" y="4480559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70" b="1">
                <a:solidFill>
                  <a:srgbClr val="102A26"/>
                </a:solidFill>
                <a:latin typeface="Calibri"/>
              </a:rPr>
              <a:t>Leaderboards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22208" y="4700016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Institution and class motivation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6437376"/>
            <a:ext cx="11201400" cy="9144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02920" y="6492240"/>
            <a:ext cx="5943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Gamified learning | Role-aware dashboards | Realtime games | Environmental data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EduEarth Theme Background - story" descr="eduearth_bg_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0012680" y="658368"/>
            <a:ext cx="1005840" cy="91440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64240" y="658368"/>
            <a:ext cx="41148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58368" y="6080760"/>
            <a:ext cx="64008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89888" y="6080760"/>
            <a:ext cx="1097280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75720" y="1143000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75720" y="1344168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475720" y="1545336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75720" y="1746504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75720" y="1947672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>
                <a:solidFill>
                  <a:srgbClr val="41645C"/>
                </a:solidFill>
                <a:latin typeface="Calibri"/>
              </a:rPr>
              <a:t>EduEarth | Project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1120" b="1">
                <a:solidFill>
                  <a:srgbClr val="41645C"/>
                </a:solidFill>
                <a:latin typeface="Calibri"/>
              </a:rPr>
              <a:t>Realtime Games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201168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120" b="1">
                <a:solidFill>
                  <a:srgbClr val="41645C"/>
                </a:solidFill>
                <a:latin typeface="Courier New"/>
              </a:rPr>
              <a:t>09 /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66928"/>
            <a:ext cx="73152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" y="566928"/>
            <a:ext cx="731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0664" y="566928"/>
            <a:ext cx="73152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713232"/>
            <a:ext cx="667512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800" b="1">
                <a:solidFill>
                  <a:srgbClr val="102A26"/>
                </a:solidFill>
                <a:latin typeface="Calibri"/>
              </a:rPr>
              <a:t>Games | Interactive Environmental Learning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1170432"/>
            <a:ext cx="7406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440" b="0">
                <a:solidFill>
                  <a:srgbClr val="41645C"/>
                </a:solidFill>
                <a:latin typeface="Calibri"/>
              </a:rPr>
              <a:t>Three game experiences turn quiz content and waste sorting into active recall.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1499616"/>
            <a:ext cx="3246120" cy="201168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0" name="Picture 19" descr="11_Game_RecycleRush.png"/>
          <p:cNvPicPr>
            <a:picLocks noChangeAspect="1"/>
          </p:cNvPicPr>
          <p:nvPr/>
        </p:nvPicPr>
        <p:blipFill>
          <a:blip r:embed="rId4"/>
          <a:srcRect t="18297" b="18297"/>
          <a:stretch>
            <a:fillRect/>
          </a:stretch>
        </p:blipFill>
        <p:spPr>
          <a:xfrm>
            <a:off x="859536" y="1664208"/>
            <a:ext cx="2953512" cy="1170432"/>
          </a:xfrm>
          <a:prstGeom prst="rect">
            <a:avLst/>
          </a:prstGeom>
          <a:ln>
            <a:solidFill/>
          </a:ln>
        </p:spPr>
      </p:pic>
      <p:sp>
        <p:nvSpPr>
          <p:cNvPr id="21" name="Rectangle 20"/>
          <p:cNvSpPr/>
          <p:nvPr/>
        </p:nvSpPr>
        <p:spPr>
          <a:xfrm>
            <a:off x="859536" y="1664208"/>
            <a:ext cx="2953512" cy="1170432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2971800"/>
            <a:ext cx="173736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440" b="1">
                <a:solidFill>
                  <a:srgbClr val="102A26"/>
                </a:solidFill>
                <a:latin typeface="Calibri"/>
              </a:rPr>
              <a:t>Recycle Rush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321868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50" b="0">
                <a:solidFill>
                  <a:srgbClr val="41645C"/>
                </a:solidFill>
                <a:latin typeface="Calibri"/>
              </a:rPr>
              <a:t>Waste sorting with custom bin and item assets.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56432" y="3017520"/>
            <a:ext cx="228600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462272" y="1499616"/>
            <a:ext cx="3246120" cy="201168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6" name="Picture 25" descr="9_Game_EcoStrike.png"/>
          <p:cNvPicPr>
            <a:picLocks noChangeAspect="1"/>
          </p:cNvPicPr>
          <p:nvPr/>
        </p:nvPicPr>
        <p:blipFill>
          <a:blip r:embed="rId5"/>
          <a:srcRect t="18297" b="18297"/>
          <a:stretch>
            <a:fillRect/>
          </a:stretch>
        </p:blipFill>
        <p:spPr>
          <a:xfrm>
            <a:off x="4608576" y="1664208"/>
            <a:ext cx="2953512" cy="1170432"/>
          </a:xfrm>
          <a:prstGeom prst="rect">
            <a:avLst/>
          </a:prstGeom>
          <a:ln>
            <a:solidFill/>
          </a:ln>
        </p:spPr>
      </p:pic>
      <p:sp>
        <p:nvSpPr>
          <p:cNvPr id="27" name="Rectangle 26"/>
          <p:cNvSpPr/>
          <p:nvPr/>
        </p:nvSpPr>
        <p:spPr>
          <a:xfrm>
            <a:off x="4608576" y="1664208"/>
            <a:ext cx="2953512" cy="1170432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26864" y="2971800"/>
            <a:ext cx="173736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440" b="1">
                <a:solidFill>
                  <a:srgbClr val="102A26"/>
                </a:solidFill>
                <a:latin typeface="Calibri"/>
              </a:rPr>
              <a:t>Eco Strike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321868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50" b="0">
                <a:solidFill>
                  <a:srgbClr val="41645C"/>
                </a:solidFill>
                <a:latin typeface="Calibri"/>
              </a:rPr>
              <a:t>Quiz battle where answers trigger attacks.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05472" y="3017520"/>
            <a:ext cx="22860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211311" y="1499616"/>
            <a:ext cx="3246120" cy="201168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32" name="Picture 31" descr="8_Game_EcoSprint.png"/>
          <p:cNvPicPr>
            <a:picLocks noChangeAspect="1"/>
          </p:cNvPicPr>
          <p:nvPr/>
        </p:nvPicPr>
        <p:blipFill>
          <a:blip r:embed="rId6"/>
          <a:srcRect t="18297" b="18297"/>
          <a:stretch>
            <a:fillRect/>
          </a:stretch>
        </p:blipFill>
        <p:spPr>
          <a:xfrm>
            <a:off x="8357615" y="1664208"/>
            <a:ext cx="2953512" cy="1170432"/>
          </a:xfrm>
          <a:prstGeom prst="rect">
            <a:avLst/>
          </a:prstGeom>
          <a:ln>
            <a:solidFill/>
          </a:ln>
        </p:spPr>
      </p:pic>
      <p:sp>
        <p:nvSpPr>
          <p:cNvPr id="33" name="Rectangle 32"/>
          <p:cNvSpPr/>
          <p:nvPr/>
        </p:nvSpPr>
        <p:spPr>
          <a:xfrm>
            <a:off x="8357615" y="1664208"/>
            <a:ext cx="2953512" cy="1170432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75903" y="2971800"/>
            <a:ext cx="173736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440" b="1">
                <a:solidFill>
                  <a:srgbClr val="102A26"/>
                </a:solidFill>
                <a:latin typeface="Calibri"/>
              </a:rPr>
              <a:t>Eco Sprint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5903" y="321868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50" b="0">
                <a:solidFill>
                  <a:srgbClr val="41645C"/>
                </a:solidFill>
                <a:latin typeface="Calibri"/>
              </a:rPr>
              <a:t>Realtime race powered by Socket.io matching.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54511" y="3017520"/>
            <a:ext cx="2286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49808" y="4005072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102A26"/>
                </a:solidFill>
                <a:latin typeface="Calibri"/>
              </a:rPr>
              <a:t>Realtime game loop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" y="4462272"/>
            <a:ext cx="1417320" cy="53035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77824" y="4498848"/>
            <a:ext cx="1271016" cy="457199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102A26"/>
                </a:solidFill>
                <a:latin typeface="Calibri"/>
              </a:rPr>
              <a:t>Join queue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2304288" y="4654296"/>
            <a:ext cx="310896" cy="118872"/>
          </a:xfrm>
          <a:prstGeom prst="rightArrow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2862072" y="4462272"/>
            <a:ext cx="1417320" cy="53035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935224" y="4498848"/>
            <a:ext cx="1271016" cy="457199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102A26"/>
                </a:solidFill>
                <a:latin typeface="Calibri"/>
              </a:rPr>
              <a:t>Match players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4361688" y="4654296"/>
            <a:ext cx="310896" cy="118872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4919472" y="4462272"/>
            <a:ext cx="1417320" cy="53035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992624" y="4498848"/>
            <a:ext cx="1271016" cy="457199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102A26"/>
                </a:solidFill>
                <a:latin typeface="Calibri"/>
              </a:rPr>
              <a:t>5 questions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6419088" y="4654296"/>
            <a:ext cx="310896" cy="118872"/>
          </a:xfrm>
          <a:prstGeom prst="rightArrow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976872" y="4462272"/>
            <a:ext cx="1417320" cy="53035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050024" y="4498848"/>
            <a:ext cx="1271016" cy="457199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102A26"/>
                </a:solidFill>
                <a:latin typeface="Calibri"/>
              </a:rPr>
              <a:t>15s timer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8476488" y="4654296"/>
            <a:ext cx="310896" cy="118872"/>
          </a:xfrm>
          <a:prstGeom prst="rightArrow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9034272" y="4462272"/>
            <a:ext cx="1417320" cy="53035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107424" y="4498848"/>
            <a:ext cx="1271016" cy="457199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170" b="1">
                <a:solidFill>
                  <a:srgbClr val="102A26"/>
                </a:solidFill>
                <a:latin typeface="Calibri"/>
              </a:rPr>
              <a:t>Score + winner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5285232"/>
            <a:ext cx="10149840" cy="34747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0">
                <a:solidFill>
                  <a:srgbClr val="41645C"/>
                </a:solidFill>
                <a:latin typeface="Calibri"/>
              </a:rPr>
              <a:t>Socket.io keeps queue state, question events, scoring and disconnect handling responsive during multiplayer sessions.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6437376"/>
            <a:ext cx="11201400" cy="9144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02920" y="6492240"/>
            <a:ext cx="5943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Gamified learning | Role-aware dashboards | Realtime games | Environmental data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EduEarth Theme Background - data" descr="eduearth_bg_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0012680" y="658368"/>
            <a:ext cx="1005840" cy="91440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64240" y="658368"/>
            <a:ext cx="41148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58368" y="6080760"/>
            <a:ext cx="64008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89888" y="6080760"/>
            <a:ext cx="1097280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75720" y="1143000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75720" y="1344168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475720" y="1545336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75720" y="1746504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75720" y="1947672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>
                <a:solidFill>
                  <a:srgbClr val="41645C"/>
                </a:solidFill>
                <a:latin typeface="Calibri"/>
              </a:rPr>
              <a:t>EduEarth | Project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1120" b="1">
                <a:solidFill>
                  <a:srgbClr val="41645C"/>
                </a:solidFill>
                <a:latin typeface="Calibri"/>
              </a:rPr>
              <a:t>Environmental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201168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120" b="1">
                <a:solidFill>
                  <a:srgbClr val="41645C"/>
                </a:solidFill>
                <a:latin typeface="Courier New"/>
              </a:rPr>
              <a:t>10 /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66928"/>
            <a:ext cx="73152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" y="566928"/>
            <a:ext cx="731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0664" y="566928"/>
            <a:ext cx="73152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713232"/>
            <a:ext cx="667512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800" b="1">
                <a:solidFill>
                  <a:srgbClr val="102A26"/>
                </a:solidFill>
                <a:latin typeface="Calibri"/>
              </a:rPr>
              <a:t>Articles &amp; Environmental Data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1170432"/>
            <a:ext cx="7406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440" b="0">
                <a:solidFill>
                  <a:srgbClr val="41645C"/>
                </a:solidFill>
                <a:latin typeface="Calibri"/>
              </a:rPr>
              <a:t>External climate and RSS data becomes classroom-ready learning material.</a:t>
            </a:r>
          </a:p>
        </p:txBody>
      </p:sp>
      <p:pic>
        <p:nvPicPr>
          <p:cNvPr id="19" name="Picture 18" descr="4_Articles.png"/>
          <p:cNvPicPr>
            <a:picLocks noChangeAspect="1"/>
          </p:cNvPicPr>
          <p:nvPr/>
        </p:nvPicPr>
        <p:blipFill>
          <a:blip r:embed="rId4"/>
          <a:srcRect l="2883" r="2883"/>
          <a:stretch>
            <a:fillRect/>
          </a:stretch>
        </p:blipFill>
        <p:spPr>
          <a:xfrm>
            <a:off x="749808" y="1481328"/>
            <a:ext cx="4617720" cy="2331720"/>
          </a:xfrm>
          <a:prstGeom prst="rect">
            <a:avLst/>
          </a:prstGeom>
          <a:ln>
            <a:solidFill/>
          </a:ln>
        </p:spPr>
      </p:pic>
      <p:sp>
        <p:nvSpPr>
          <p:cNvPr id="20" name="Rectangle 19"/>
          <p:cNvSpPr/>
          <p:nvPr/>
        </p:nvSpPr>
        <p:spPr>
          <a:xfrm>
            <a:off x="749808" y="1481328"/>
            <a:ext cx="4617720" cy="2331720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21" name="Picture 20" descr="flow_airflow_et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9874" y="1417320"/>
            <a:ext cx="4528091" cy="2514600"/>
          </a:xfrm>
          <a:prstGeom prst="rect">
            <a:avLst/>
          </a:prstGeom>
          <a:ln>
            <a:solidFill/>
          </a:ln>
        </p:spPr>
      </p:pic>
      <p:sp>
        <p:nvSpPr>
          <p:cNvPr id="22" name="Rectangle 21"/>
          <p:cNvSpPr/>
          <p:nvPr/>
        </p:nvSpPr>
        <p:spPr>
          <a:xfrm>
            <a:off x="6239874" y="1417320"/>
            <a:ext cx="4528091" cy="2514600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77240" y="4370832"/>
            <a:ext cx="2423160" cy="768096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4498848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11845B"/>
                </a:solidFill>
                <a:latin typeface="Courier New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4168" y="4389120"/>
            <a:ext cx="1709928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 dirty="0">
                <a:solidFill>
                  <a:srgbClr val="102A26"/>
                </a:solidFill>
                <a:latin typeface="Calibri"/>
              </a:rPr>
              <a:t>SOURCES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4168" y="4617720"/>
            <a:ext cx="1709928" cy="265175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 dirty="0">
                <a:solidFill>
                  <a:srgbClr val="41645C"/>
                </a:solidFill>
                <a:latin typeface="Calibri"/>
              </a:rPr>
              <a:t>Open-</a:t>
            </a:r>
            <a:r>
              <a:rPr sz="1070" b="0" dirty="0" err="1">
                <a:solidFill>
                  <a:srgbClr val="41645C"/>
                </a:solidFill>
                <a:latin typeface="Calibri"/>
              </a:rPr>
              <a:t>Meteo</a:t>
            </a:r>
            <a:r>
              <a:rPr sz="1070" b="0" dirty="0">
                <a:solidFill>
                  <a:srgbClr val="41645C"/>
                </a:solidFill>
                <a:latin typeface="Calibri"/>
              </a:rPr>
              <a:t> climate API plus Guardian, UNEP and NASA Earth RSS feeds.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20440" y="4370832"/>
            <a:ext cx="2423160" cy="768096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0" y="4498848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2563EB"/>
                </a:solidFill>
                <a:latin typeface="Courier New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407408"/>
            <a:ext cx="1709928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 dirty="0">
                <a:solidFill>
                  <a:srgbClr val="102A26"/>
                </a:solidFill>
                <a:latin typeface="Calibri"/>
              </a:rPr>
              <a:t>AIRFLOW DAG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87368" y="4645152"/>
            <a:ext cx="1709928" cy="265175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 dirty="0">
                <a:solidFill>
                  <a:srgbClr val="41645C"/>
                </a:solidFill>
                <a:latin typeface="Calibri"/>
              </a:rPr>
              <a:t>Scheduled scraping, retries, data quality and freshness checks.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4370832"/>
            <a:ext cx="2423160" cy="768096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0" y="4498848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6D28D9"/>
                </a:solidFill>
                <a:latin typeface="Courier New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30568" y="4379976"/>
            <a:ext cx="1709928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 dirty="0">
                <a:solidFill>
                  <a:srgbClr val="102A26"/>
                </a:solidFill>
                <a:latin typeface="Calibri"/>
              </a:rPr>
              <a:t>ENRICHMENT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0568" y="4617720"/>
            <a:ext cx="1709928" cy="265175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 dirty="0">
                <a:solidFill>
                  <a:srgbClr val="41645C"/>
                </a:solidFill>
                <a:latin typeface="Calibri"/>
              </a:rPr>
              <a:t>Topic, grade band, difficulty, learning objective, tags and relevance score.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06840" y="4370832"/>
            <a:ext cx="2423160" cy="768096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0" y="4498848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B45309"/>
                </a:solidFill>
                <a:latin typeface="Courier New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73767" y="4389120"/>
            <a:ext cx="1709928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 dirty="0">
                <a:solidFill>
                  <a:srgbClr val="102A26"/>
                </a:solidFill>
                <a:latin typeface="Calibri"/>
              </a:rPr>
              <a:t>OUTBOX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73767" y="4608576"/>
            <a:ext cx="1709928" cy="265175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 dirty="0">
                <a:solidFill>
                  <a:srgbClr val="41645C"/>
                </a:solidFill>
                <a:latin typeface="Calibri"/>
              </a:rPr>
              <a:t>Reliable </a:t>
            </a:r>
            <a:r>
              <a:rPr sz="1070" b="0" dirty="0" err="1">
                <a:solidFill>
                  <a:srgbClr val="41645C"/>
                </a:solidFill>
                <a:latin typeface="Calibri"/>
              </a:rPr>
              <a:t>websocket</a:t>
            </a:r>
            <a:r>
              <a:rPr sz="1070" b="0" dirty="0">
                <a:solidFill>
                  <a:srgbClr val="41645C"/>
                </a:solidFill>
                <a:latin typeface="Calibri"/>
              </a:rPr>
              <a:t> events publish deltas without re-scraping.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5486400"/>
            <a:ext cx="98755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1270" b="1">
                <a:solidFill>
                  <a:srgbClr val="102A26"/>
                </a:solidFill>
                <a:latin typeface="Calibri"/>
              </a:rPr>
              <a:t>Result: teachers and learners can consume timely environmental stories as structured, searchable educational content.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6437376"/>
            <a:ext cx="11201400" cy="9144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02920" y="6492240"/>
            <a:ext cx="5943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Gamified learning | Role-aware dashboards | Realtime games | Environmental data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EduEarth Theme Background - tech" descr="eduearth_bg_te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0012680" y="658368"/>
            <a:ext cx="1005840" cy="91440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64240" y="658368"/>
            <a:ext cx="41148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58368" y="6080760"/>
            <a:ext cx="64008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89888" y="6080760"/>
            <a:ext cx="1097280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75720" y="1143000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75720" y="1344168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475720" y="1545336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75720" y="1746504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75720" y="1947672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>
                <a:solidFill>
                  <a:srgbClr val="41645C"/>
                </a:solidFill>
                <a:latin typeface="Calibri"/>
              </a:rPr>
              <a:t>EduEarth | Project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1120" b="1">
                <a:solidFill>
                  <a:srgbClr val="41645C"/>
                </a:solidFill>
                <a:latin typeface="Calibri"/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201168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120" b="1">
                <a:solidFill>
                  <a:srgbClr val="41645C"/>
                </a:solidFill>
                <a:latin typeface="Courier New"/>
              </a:rPr>
              <a:t>11 /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66928"/>
            <a:ext cx="73152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" y="566928"/>
            <a:ext cx="731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0664" y="566928"/>
            <a:ext cx="73152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713232"/>
            <a:ext cx="667512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800" b="1">
                <a:solidFill>
                  <a:srgbClr val="102A26"/>
                </a:solidFill>
                <a:latin typeface="Calibri"/>
              </a:rPr>
              <a:t>Backend | API, Auth &amp; Realtime 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1170432"/>
            <a:ext cx="7406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440" b="0">
                <a:solidFill>
                  <a:srgbClr val="41645C"/>
                </a:solidFill>
                <a:latin typeface="Calibri"/>
              </a:rPr>
              <a:t>Express serves domain APIs while Socket.io handles interactive game and outbox events.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1371600"/>
            <a:ext cx="53035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0">
                <a:solidFill>
                  <a:srgbClr val="41645C"/>
                </a:solidFill>
                <a:latin typeface="Calibri"/>
              </a:rPr>
              <a:t>Node + Express + Socket.io, modular by route and responsibility.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1828800"/>
            <a:ext cx="2880360" cy="768096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1975104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1">
                <a:solidFill>
                  <a:srgbClr val="11845B"/>
                </a:solidFill>
                <a:latin typeface="Courier New"/>
              </a:rPr>
              <a:t>REST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2231136"/>
            <a:ext cx="2514600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30" b="0">
                <a:solidFill>
                  <a:srgbClr val="41645C"/>
                </a:solidFill>
                <a:latin typeface="Calibri"/>
              </a:rPr>
              <a:t>Auth, institutions, classes, lessons, quizzes, articles, metrics and flow routes.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95928" y="1828800"/>
            <a:ext cx="2880360" cy="768096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60520" y="1975104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1">
                <a:solidFill>
                  <a:srgbClr val="2563EB"/>
                </a:solidFill>
                <a:latin typeface="Courier New"/>
              </a:rPr>
              <a:t>Auth 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0520" y="2231136"/>
            <a:ext cx="2514600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30" b="0">
                <a:solidFill>
                  <a:srgbClr val="41645C"/>
                </a:solidFill>
                <a:latin typeface="Calibri"/>
              </a:rPr>
              <a:t>Supabase bearer tokens validated on protected create/update/delete flows.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2834640"/>
            <a:ext cx="2880360" cy="768096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2880360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1" dirty="0">
                <a:solidFill>
                  <a:srgbClr val="6D28D9"/>
                </a:solidFill>
                <a:latin typeface="Courier New"/>
              </a:rPr>
              <a:t>Prisma Data 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3236976"/>
            <a:ext cx="2514600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30" b="0">
                <a:solidFill>
                  <a:srgbClr val="41645C"/>
                </a:solidFill>
                <a:latin typeface="Calibri"/>
              </a:rPr>
              <a:t>Typed access to users, institutions, lessons, quizzes, badges and articles.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95928" y="2834640"/>
            <a:ext cx="2880360" cy="768096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160520" y="2889504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1" dirty="0">
                <a:solidFill>
                  <a:srgbClr val="B45309"/>
                </a:solidFill>
                <a:latin typeface="Courier New"/>
              </a:rPr>
              <a:t>Realtime Server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236976"/>
            <a:ext cx="2514600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30" b="0">
                <a:solidFill>
                  <a:srgbClr val="41645C"/>
                </a:solidFill>
                <a:latin typeface="Calibri"/>
              </a:rPr>
              <a:t>Socket.io queue, matchmaking, question events and winner calculation.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3840480"/>
            <a:ext cx="2880360" cy="768096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3986784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1">
                <a:solidFill>
                  <a:srgbClr val="11845B"/>
                </a:solidFill>
                <a:latin typeface="Courier New"/>
              </a:rPr>
              <a:t>Observability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242816"/>
            <a:ext cx="2514600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30" b="0">
                <a:solidFill>
                  <a:srgbClr val="41645C"/>
                </a:solidFill>
                <a:latin typeface="Calibri"/>
              </a:rPr>
              <a:t>Pino request logging, request IDs and Prometheus metrics endpoint.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95928" y="3840480"/>
            <a:ext cx="2880360" cy="768096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60520" y="3886200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1" dirty="0">
                <a:solidFill>
                  <a:srgbClr val="2563EB"/>
                </a:solidFill>
                <a:latin typeface="Courier New"/>
              </a:rPr>
              <a:t>Outbox Publisher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60520" y="4242816"/>
            <a:ext cx="2514600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30" b="0">
                <a:solidFill>
                  <a:srgbClr val="41645C"/>
                </a:solidFill>
                <a:latin typeface="Calibri"/>
              </a:rPr>
              <a:t>Polls unsent events and emits reliable websocket updates.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79" y="1572768"/>
            <a:ext cx="3611880" cy="391363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99248" y="1810512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440" b="1">
                <a:solidFill>
                  <a:srgbClr val="102A26"/>
                </a:solidFill>
                <a:latin typeface="Calibri"/>
              </a:rPr>
              <a:t>Primary API surface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26679" y="2212848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89" b="0" dirty="0">
                <a:solidFill>
                  <a:srgbClr val="41645C"/>
                </a:solidFill>
                <a:latin typeface="Courier New"/>
              </a:rPr>
              <a:t>GET /health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79" y="2514600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89" b="0">
                <a:solidFill>
                  <a:srgbClr val="41645C"/>
                </a:solidFill>
                <a:latin typeface="Courier New"/>
              </a:rPr>
              <a:t>GET /metrics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26679" y="281635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89" b="0">
                <a:solidFill>
                  <a:srgbClr val="41645C"/>
                </a:solidFill>
                <a:latin typeface="Courier New"/>
              </a:rPr>
              <a:t>/auth/user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26679" y="3118104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89" b="0">
                <a:solidFill>
                  <a:srgbClr val="41645C"/>
                </a:solidFill>
                <a:latin typeface="Courier New"/>
              </a:rPr>
              <a:t>/institutions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26679" y="3419856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89" b="0">
                <a:solidFill>
                  <a:srgbClr val="41645C"/>
                </a:solidFill>
                <a:latin typeface="Courier New"/>
              </a:rPr>
              <a:t>/classes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26679" y="3721608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89" b="0">
                <a:solidFill>
                  <a:srgbClr val="41645C"/>
                </a:solidFill>
                <a:latin typeface="Courier New"/>
              </a:rPr>
              <a:t>/lessons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26679" y="4023360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89" b="0">
                <a:solidFill>
                  <a:srgbClr val="41645C"/>
                </a:solidFill>
                <a:latin typeface="Courier New"/>
              </a:rPr>
              <a:t>/quizzes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26679" y="432511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89" b="0">
                <a:solidFill>
                  <a:srgbClr val="41645C"/>
                </a:solidFill>
                <a:latin typeface="Courier New"/>
              </a:rPr>
              <a:t>/articles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26679" y="4626864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89" b="0">
                <a:solidFill>
                  <a:srgbClr val="41645C"/>
                </a:solidFill>
                <a:latin typeface="Courier New"/>
              </a:rPr>
              <a:t>/game/health + /stats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6437376"/>
            <a:ext cx="11201400" cy="9144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02920" y="6492240"/>
            <a:ext cx="5943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Gamified learning | Role-aware dashboards | Realtime games | Environmental data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EduEarth Theme Background - tech" descr="eduearth_bg_te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0012680" y="658368"/>
            <a:ext cx="1005840" cy="91440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64240" y="658368"/>
            <a:ext cx="41148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58368" y="6080760"/>
            <a:ext cx="64008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89888" y="6080760"/>
            <a:ext cx="1097280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75720" y="1143000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75720" y="1344168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475720" y="1545336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75720" y="1746504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75720" y="1947672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>
                <a:solidFill>
                  <a:srgbClr val="41645C"/>
                </a:solidFill>
                <a:latin typeface="Calibri"/>
              </a:rPr>
              <a:t>EduEarth | Project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1120" b="1">
                <a:solidFill>
                  <a:srgbClr val="41645C"/>
                </a:solidFill>
                <a:latin typeface="Calibri"/>
              </a:rPr>
              <a:t>Backend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201168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120" b="1">
                <a:solidFill>
                  <a:srgbClr val="41645C"/>
                </a:solidFill>
                <a:latin typeface="Courier New"/>
              </a:rPr>
              <a:t>12 /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66928"/>
            <a:ext cx="73152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" y="566928"/>
            <a:ext cx="731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0664" y="566928"/>
            <a:ext cx="73152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713232"/>
            <a:ext cx="667512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800" b="1">
                <a:solidFill>
                  <a:srgbClr val="102A26"/>
                </a:solidFill>
                <a:latin typeface="Calibri"/>
              </a:rPr>
              <a:t>Backend | Request Lifecycle &amp;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1170432"/>
            <a:ext cx="7406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440" b="0">
                <a:solidFill>
                  <a:srgbClr val="41645C"/>
                </a:solidFill>
                <a:latin typeface="Calibri"/>
              </a:rPr>
              <a:t>A predictable path from browser request to database response and realtime event fan-out.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1417320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11845B"/>
                </a:solidFill>
                <a:latin typeface="Courier New"/>
              </a:rPr>
              <a:t>REQUEST LIFECYCLE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1828800"/>
            <a:ext cx="2834640" cy="71323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1956816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1">
                <a:solidFill>
                  <a:srgbClr val="102A26"/>
                </a:solidFill>
                <a:latin typeface="Calibri"/>
              </a:rPr>
              <a:t>Client fetch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2212848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60" b="0">
                <a:solidFill>
                  <a:srgbClr val="41645C"/>
                </a:solidFill>
                <a:latin typeface="Courier New"/>
              </a:rPr>
              <a:t>NEXT_PUBLIC_SERVER_URL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721608" y="2121408"/>
            <a:ext cx="310896" cy="118872"/>
          </a:xfrm>
          <a:prstGeom prst="rightArrow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361688" y="1828800"/>
            <a:ext cx="2834640" cy="71323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26280" y="1956816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1">
                <a:solidFill>
                  <a:srgbClr val="102A26"/>
                </a:solidFill>
                <a:latin typeface="Calibri"/>
              </a:rPr>
              <a:t>CORS + 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2212848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60" b="0">
                <a:solidFill>
                  <a:srgbClr val="41645C"/>
                </a:solidFill>
                <a:latin typeface="Courier New"/>
              </a:rPr>
              <a:t>Express middleware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333488" y="2121408"/>
            <a:ext cx="310896" cy="118872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973568" y="1828800"/>
            <a:ext cx="2834640" cy="71323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138160" y="1956816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1">
                <a:solidFill>
                  <a:srgbClr val="102A26"/>
                </a:solidFill>
                <a:latin typeface="Calibri"/>
              </a:rPr>
              <a:t>Auth token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2212848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60" b="0">
                <a:solidFill>
                  <a:srgbClr val="41645C"/>
                </a:solidFill>
                <a:latin typeface="Courier New"/>
              </a:rPr>
              <a:t>validToken middleware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2907791"/>
            <a:ext cx="2834640" cy="71323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3035808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1">
                <a:solidFill>
                  <a:srgbClr val="102A26"/>
                </a:solidFill>
                <a:latin typeface="Calibri"/>
              </a:rPr>
              <a:t>Controller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3291839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60" b="0">
                <a:solidFill>
                  <a:srgbClr val="41645C"/>
                </a:solidFill>
                <a:latin typeface="Courier New"/>
              </a:rPr>
              <a:t>Route-specific handler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3721608" y="3200399"/>
            <a:ext cx="310896" cy="118872"/>
          </a:xfrm>
          <a:prstGeom prst="rightArrow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361688" y="2907791"/>
            <a:ext cx="2834640" cy="71323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26280" y="3035808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1">
                <a:solidFill>
                  <a:srgbClr val="102A26"/>
                </a:solidFill>
                <a:latin typeface="Calibri"/>
              </a:rPr>
              <a:t>Service/Repo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6280" y="3291839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60" b="0">
                <a:solidFill>
                  <a:srgbClr val="41645C"/>
                </a:solidFill>
                <a:latin typeface="Courier New"/>
              </a:rPr>
              <a:t>Domain logic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7333488" y="3200399"/>
            <a:ext cx="310896" cy="118872"/>
          </a:xfrm>
          <a:prstGeom prst="rightArrow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7973568" y="2907791"/>
            <a:ext cx="2834640" cy="71323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138160" y="3035808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1">
                <a:solidFill>
                  <a:srgbClr val="102A26"/>
                </a:solidFill>
                <a:latin typeface="Calibri"/>
              </a:rPr>
              <a:t>Prisma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3291839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60" b="0">
                <a:solidFill>
                  <a:srgbClr val="41645C"/>
                </a:solidFill>
                <a:latin typeface="Courier New"/>
              </a:rPr>
              <a:t>PostgreSQL read/write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425196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2563EB"/>
                </a:solidFill>
                <a:latin typeface="Courier New"/>
              </a:rPr>
              <a:t>RELIABLE REALTIME PATH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4617720"/>
            <a:ext cx="2011680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50392" y="4654296"/>
            <a:ext cx="1865376" cy="49377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80" b="1">
                <a:solidFill>
                  <a:srgbClr val="102A26"/>
                </a:solidFill>
                <a:latin typeface="Calibri"/>
              </a:rPr>
              <a:t>Ingestion write
websocket_outbox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880360" y="4828032"/>
            <a:ext cx="310896" cy="118872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3520440" y="4617720"/>
            <a:ext cx="2011680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593592" y="4654296"/>
            <a:ext cx="1865376" cy="49377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80" b="1">
                <a:solidFill>
                  <a:srgbClr val="102A26"/>
                </a:solidFill>
                <a:latin typeface="Calibri"/>
              </a:rPr>
              <a:t>Publisher poll
FOR UPDATE SKIP LOCKED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5623560" y="4828032"/>
            <a:ext cx="310896" cy="118872"/>
          </a:xfrm>
          <a:prstGeom prst="rightArrow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6263640" y="4617720"/>
            <a:ext cx="2011680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336792" y="4654296"/>
            <a:ext cx="1865376" cy="49377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80" b="1">
                <a:solidFill>
                  <a:srgbClr val="102A26"/>
                </a:solidFill>
                <a:latin typeface="Calibri"/>
              </a:rPr>
              <a:t>Socket emit
channel + event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8366760" y="4828032"/>
            <a:ext cx="310896" cy="118872"/>
          </a:xfrm>
          <a:prstGeom prst="rightArrow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9006840" y="4617720"/>
            <a:ext cx="2011680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079992" y="4654296"/>
            <a:ext cx="1865376" cy="49377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80" b="1">
                <a:solidFill>
                  <a:srgbClr val="102A26"/>
                </a:solidFill>
                <a:latin typeface="Calibri"/>
              </a:rPr>
              <a:t>Client update
fresh UI state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6437376"/>
            <a:ext cx="11201400" cy="9144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02920" y="6492240"/>
            <a:ext cx="5943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Gamified learning | Role-aware dashboards | Realtime games | Environmental data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EduEarth Theme Background - data" descr="eduearth_bg_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0012680" y="658368"/>
            <a:ext cx="1005840" cy="91440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64240" y="658368"/>
            <a:ext cx="41148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58368" y="6080760"/>
            <a:ext cx="64008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89888" y="6080760"/>
            <a:ext cx="1097280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75720" y="1143000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75720" y="1344168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475720" y="1545336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75720" y="1746504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75720" y="1947672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>
                <a:solidFill>
                  <a:srgbClr val="41645C"/>
                </a:solidFill>
                <a:latin typeface="Calibri"/>
              </a:rPr>
              <a:t>EduEarth | Project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1120" b="1">
                <a:solidFill>
                  <a:srgbClr val="41645C"/>
                </a:solidFill>
                <a:latin typeface="Calibri"/>
              </a:rPr>
              <a:t>Data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201168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120" b="1">
                <a:solidFill>
                  <a:srgbClr val="41645C"/>
                </a:solidFill>
                <a:latin typeface="Courier New"/>
              </a:rPr>
              <a:t>13 /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66928"/>
            <a:ext cx="73152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" y="566928"/>
            <a:ext cx="731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0664" y="566928"/>
            <a:ext cx="73152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713232"/>
            <a:ext cx="667512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800" b="1">
                <a:solidFill>
                  <a:srgbClr val="102A26"/>
                </a:solidFill>
                <a:latin typeface="Calibri"/>
              </a:rPr>
              <a:t>Database | Core Domain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1170432"/>
            <a:ext cx="7406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440" b="0">
                <a:solidFill>
                  <a:srgbClr val="41645C"/>
                </a:solidFill>
                <a:latin typeface="Calibri"/>
              </a:rPr>
              <a:t>Prisma models connect users, schools, learning content, activities and environmental articles.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1481328"/>
            <a:ext cx="4617720" cy="440740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87552" y="1847088"/>
            <a:ext cx="164592" cy="164592"/>
          </a:xfrm>
          <a:prstGeom prst="ellipse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98448" y="177393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1">
                <a:solidFill>
                  <a:srgbClr val="102A26"/>
                </a:solidFill>
                <a:latin typeface="Calibri"/>
              </a:rPr>
              <a:t>Identity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1773936"/>
            <a:ext cx="251460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>
                <a:solidFill>
                  <a:srgbClr val="41645C"/>
                </a:solidFill>
                <a:latin typeface="Calibri"/>
              </a:rPr>
              <a:t>User, RefreshToken, OTP, role metadata</a:t>
            </a:r>
          </a:p>
        </p:txBody>
      </p:sp>
      <p:sp>
        <p:nvSpPr>
          <p:cNvPr id="23" name="Oval 22"/>
          <p:cNvSpPr/>
          <p:nvPr/>
        </p:nvSpPr>
        <p:spPr>
          <a:xfrm>
            <a:off x="987552" y="2560320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98448" y="24871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1">
                <a:solidFill>
                  <a:srgbClr val="102A26"/>
                </a:solidFill>
                <a:latin typeface="Calibri"/>
              </a:rPr>
              <a:t>Institution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2487168"/>
            <a:ext cx="251460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>
                <a:solidFill>
                  <a:srgbClr val="41645C"/>
                </a:solidFill>
                <a:latin typeface="Calibri"/>
              </a:rPr>
              <a:t>Institution, Class, Student, Teacher, class membership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3273552"/>
            <a:ext cx="164592" cy="164592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98448" y="320040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1">
                <a:solidFill>
                  <a:srgbClr val="102A26"/>
                </a:solidFill>
                <a:latin typeface="Calibri"/>
              </a:rPr>
              <a:t>Learning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200400"/>
            <a:ext cx="251460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>
                <a:solidFill>
                  <a:srgbClr val="41645C"/>
                </a:solidFill>
                <a:latin typeface="Calibri"/>
              </a:rPr>
              <a:t>LessonModule, Lesson, Quiz, QuizQuestion, attempts</a:t>
            </a:r>
          </a:p>
        </p:txBody>
      </p:sp>
      <p:sp>
        <p:nvSpPr>
          <p:cNvPr id="29" name="Oval 28"/>
          <p:cNvSpPr/>
          <p:nvPr/>
        </p:nvSpPr>
        <p:spPr>
          <a:xfrm>
            <a:off x="987552" y="3986783"/>
            <a:ext cx="164592" cy="164592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298448" y="3913631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1">
                <a:solidFill>
                  <a:srgbClr val="102A26"/>
                </a:solidFill>
                <a:latin typeface="Calibri"/>
              </a:rPr>
              <a:t>Motivation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20" y="3913631"/>
            <a:ext cx="251460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>
                <a:solidFill>
                  <a:srgbClr val="41645C"/>
                </a:solidFill>
                <a:latin typeface="Calibri"/>
              </a:rPr>
              <a:t>Challenge, EcoActivity, Badge, Achievement, Leaderboard</a:t>
            </a:r>
          </a:p>
        </p:txBody>
      </p:sp>
      <p:sp>
        <p:nvSpPr>
          <p:cNvPr id="32" name="Oval 31"/>
          <p:cNvSpPr/>
          <p:nvPr/>
        </p:nvSpPr>
        <p:spPr>
          <a:xfrm>
            <a:off x="987552" y="4700016"/>
            <a:ext cx="164592" cy="164592"/>
          </a:xfrm>
          <a:prstGeom prst="ellipse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298448" y="46268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1">
                <a:solidFill>
                  <a:srgbClr val="102A26"/>
                </a:solidFill>
                <a:latin typeface="Calibri"/>
              </a:rPr>
              <a:t>Content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4626864"/>
            <a:ext cx="251460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>
                <a:solidFill>
                  <a:srgbClr val="41645C"/>
                </a:solidFill>
                <a:latin typeface="Calibri"/>
              </a:rPr>
              <a:t>Article plus ingestion tables for news, climate and outbox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79008" y="1353312"/>
            <a:ext cx="5321808" cy="4645152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36" name="Picture 35" descr="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034" y="1536192"/>
            <a:ext cx="3343754" cy="4279392"/>
          </a:xfrm>
          <a:prstGeom prst="rect">
            <a:avLst/>
          </a:prstGeom>
          <a:ln>
            <a:solidFill/>
          </a:ln>
        </p:spPr>
      </p:pic>
      <p:sp>
        <p:nvSpPr>
          <p:cNvPr id="37" name="Rectangle 36"/>
          <p:cNvSpPr/>
          <p:nvPr/>
        </p:nvSpPr>
        <p:spPr>
          <a:xfrm>
            <a:off x="502920" y="6437376"/>
            <a:ext cx="11201400" cy="9144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" y="6492240"/>
            <a:ext cx="5943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Gamified learning | Role-aware dashboards | Realtime games | Environmental data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EduEarth Theme Background - tech" descr="eduearth_bg_te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02920" y="219456"/>
            <a:ext cx="3840480" cy="237744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>
            <a:noAutofit/>
          </a:bodyPr>
          <a:lstStyle/>
          <a:p>
            <a:pPr algn="l"/>
            <a:r>
              <a:rPr sz="1100" b="1">
                <a:solidFill>
                  <a:srgbClr val="41645C"/>
                </a:solidFill>
                <a:latin typeface="Calibri"/>
              </a:rPr>
              <a:t>EduEarth | Project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210312"/>
            <a:ext cx="3840480" cy="237744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>
            <a:noAutofit/>
          </a:bodyPr>
          <a:lstStyle/>
          <a:p>
            <a:pPr algn="ctr"/>
            <a:r>
              <a:rPr sz="1100" b="1">
                <a:solidFill>
                  <a:srgbClr val="41645C"/>
                </a:solidFill>
                <a:latin typeface="Calibri"/>
              </a:rPr>
              <a:t>Project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97312" y="210312"/>
            <a:ext cx="114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>
            <a:noAutofit/>
          </a:bodyPr>
          <a:lstStyle/>
          <a:p>
            <a:pPr algn="r"/>
            <a:r>
              <a:rPr sz="1100" b="1">
                <a:solidFill>
                  <a:srgbClr val="41645C"/>
                </a:solidFill>
                <a:latin typeface="Courier New"/>
              </a:rPr>
              <a:t>14 /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85216"/>
            <a:ext cx="91440" cy="91440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585216"/>
            <a:ext cx="9144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585216"/>
            <a:ext cx="91440" cy="914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749808"/>
            <a:ext cx="3657600" cy="402336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>
            <a:noAutofit/>
          </a:bodyPr>
          <a:lstStyle/>
          <a:p>
            <a:pPr algn="l"/>
            <a:r>
              <a:rPr sz="3000" b="1">
                <a:solidFill>
                  <a:srgbClr val="102A26"/>
                </a:solidFill>
                <a:latin typeface="Calibri"/>
              </a:rPr>
              <a:t>Project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188720"/>
            <a:ext cx="9692640" cy="310896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>
            <a:noAutofit/>
          </a:bodyPr>
          <a:lstStyle/>
          <a:p>
            <a:pPr algn="l"/>
            <a:r>
              <a:rPr sz="1450" b="0">
                <a:solidFill>
                  <a:srgbClr val="41645C"/>
                </a:solidFill>
                <a:latin typeface="Calibri"/>
              </a:rPr>
              <a:t>Client, API, realtime services, PostgreSQL and Airflow ingestion working as one learning platform.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27632"/>
            <a:ext cx="10881360" cy="3822191"/>
          </a:xfrm>
          <a:prstGeom prst="roundRect">
            <a:avLst/>
          </a:prstGeom>
          <a:solidFill>
            <a:srgbClr val="FFFFFF"/>
          </a:solidFill>
          <a:ln w="1397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3582" y="1810512"/>
            <a:ext cx="9690930" cy="345643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58368" y="5577840"/>
            <a:ext cx="2514600" cy="786384"/>
          </a:xfrm>
          <a:prstGeom prst="roundRect">
            <a:avLst/>
          </a:prstGeom>
          <a:solidFill>
            <a:srgbClr val="FFFFFF"/>
          </a:solidFill>
          <a:ln w="1397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569671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>
            <a:noAutofit/>
          </a:bodyPr>
          <a:lstStyle/>
          <a:p>
            <a:pPr algn="l"/>
            <a:r>
              <a:rPr sz="1200" b="1">
                <a:solidFill>
                  <a:srgbClr val="11845B"/>
                </a:solidFill>
                <a:latin typeface="Courier New"/>
              </a:rPr>
              <a:t>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971031"/>
            <a:ext cx="2139696" cy="237744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>
            <a:noAutofit/>
          </a:bodyPr>
          <a:lstStyle/>
          <a:p>
            <a:pPr algn="l"/>
            <a:r>
              <a:rPr sz="950" b="0">
                <a:solidFill>
                  <a:srgbClr val="41645C"/>
                </a:solidFill>
                <a:latin typeface="Calibri"/>
              </a:rPr>
              <a:t>Next.js UI, dashboards, games, articles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1568" y="5577840"/>
            <a:ext cx="2514600" cy="786384"/>
          </a:xfrm>
          <a:prstGeom prst="roundRect">
            <a:avLst/>
          </a:prstGeom>
          <a:solidFill>
            <a:srgbClr val="FFFFFF"/>
          </a:solidFill>
          <a:ln w="1397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47872" y="569671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>
            <a:no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Courier New"/>
              </a:rPr>
              <a:t>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5971031"/>
            <a:ext cx="2139696" cy="237744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>
            <a:noAutofit/>
          </a:bodyPr>
          <a:lstStyle/>
          <a:p>
            <a:pPr algn="l"/>
            <a:r>
              <a:rPr sz="950" b="0">
                <a:solidFill>
                  <a:srgbClr val="41645C"/>
                </a:solidFill>
                <a:latin typeface="Calibri"/>
              </a:rPr>
              <a:t>Express routes, auth, metrics and flow views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5577840"/>
            <a:ext cx="2514600" cy="786384"/>
          </a:xfrm>
          <a:prstGeom prst="roundRect">
            <a:avLst/>
          </a:prstGeom>
          <a:solidFill>
            <a:srgbClr val="FFFFFF"/>
          </a:solidFill>
          <a:ln w="1397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072" y="569671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>
            <a:noAutofit/>
          </a:bodyPr>
          <a:lstStyle/>
          <a:p>
            <a:pPr algn="l"/>
            <a:r>
              <a:rPr sz="1200" b="1">
                <a:solidFill>
                  <a:srgbClr val="6D28D9"/>
                </a:solidFill>
                <a:latin typeface="Courier New"/>
              </a:rPr>
              <a:t>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5971031"/>
            <a:ext cx="2139696" cy="237744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>
            <a:noAutofit/>
          </a:bodyPr>
          <a:lstStyle/>
          <a:p>
            <a:pPr algn="l"/>
            <a:r>
              <a:rPr sz="950" b="0">
                <a:solidFill>
                  <a:srgbClr val="41645C"/>
                </a:solidFill>
                <a:latin typeface="Calibri"/>
              </a:rPr>
              <a:t>PostgreSQL, Prisma models and outbox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87968" y="5577840"/>
            <a:ext cx="2514600" cy="786384"/>
          </a:xfrm>
          <a:prstGeom prst="roundRect">
            <a:avLst/>
          </a:prstGeom>
          <a:solidFill>
            <a:srgbClr val="FFFFFF"/>
          </a:solidFill>
          <a:ln w="1397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034272" y="569671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>
            <a:noAutofit/>
          </a:bodyPr>
          <a:lstStyle/>
          <a:p>
            <a:pPr algn="l"/>
            <a:r>
              <a:rPr sz="1200" b="1">
                <a:solidFill>
                  <a:srgbClr val="B45309"/>
                </a:solidFill>
                <a:latin typeface="Courier New"/>
              </a:rPr>
              <a:t>INGESTION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4272" y="5971031"/>
            <a:ext cx="2139696" cy="237744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>
            <a:noAutofit/>
          </a:bodyPr>
          <a:lstStyle/>
          <a:p>
            <a:pPr algn="l"/>
            <a:r>
              <a:rPr sz="950" b="0" dirty="0">
                <a:solidFill>
                  <a:srgbClr val="41645C"/>
                </a:solidFill>
                <a:latin typeface="Calibri"/>
              </a:rPr>
              <a:t>Airflow DAGs, Python scrapers and enrichment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0" y="6492240"/>
            <a:ext cx="6675120" cy="219456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>
            <a:noAutofit/>
          </a:bodyPr>
          <a:lstStyle/>
          <a:p>
            <a:pPr algn="l"/>
            <a:r>
              <a:rPr sz="1000" b="0">
                <a:solidFill>
                  <a:srgbClr val="41645C"/>
                </a:solidFill>
                <a:latin typeface="Calibri"/>
              </a:rPr>
              <a:t>Gamified learning | Role-aware dashboards | Realtime games | Environmental data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EduEarth Theme Background - story" descr="eduearth_bg_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0012680" y="658368"/>
            <a:ext cx="1005840" cy="91440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64240" y="658368"/>
            <a:ext cx="41148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58368" y="6080760"/>
            <a:ext cx="64008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89888" y="6080760"/>
            <a:ext cx="1097280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75720" y="1143000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75720" y="1344168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475720" y="1545336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75720" y="1746504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75720" y="1947672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>
                <a:solidFill>
                  <a:srgbClr val="41645C"/>
                </a:solidFill>
                <a:latin typeface="Calibri"/>
              </a:rPr>
              <a:t>EduEarth | Project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1120" b="1">
                <a:solidFill>
                  <a:srgbClr val="41645C"/>
                </a:solidFill>
                <a:latin typeface="Calibri"/>
              </a:rPr>
              <a:t>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201168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120" b="1">
                <a:solidFill>
                  <a:srgbClr val="41645C"/>
                </a:solidFill>
                <a:latin typeface="Courier New"/>
              </a:rPr>
              <a:t>15 /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66928"/>
            <a:ext cx="73152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" y="566928"/>
            <a:ext cx="731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0664" y="566928"/>
            <a:ext cx="73152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713232"/>
            <a:ext cx="667512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800" b="1">
                <a:solidFill>
                  <a:srgbClr val="102A26"/>
                </a:solidFill>
                <a:latin typeface="Calibri"/>
              </a:rPr>
              <a:t>Security, Scalability &amp; Future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1170432"/>
            <a:ext cx="7406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440" b="0">
                <a:solidFill>
                  <a:srgbClr val="41645C"/>
                </a:solidFill>
                <a:latin typeface="Calibri"/>
              </a:rPr>
              <a:t>The current implementation already separates concerns and leaves a clear path to production hardening.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1463040"/>
            <a:ext cx="5074920" cy="434340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309360" y="1463040"/>
            <a:ext cx="5074920" cy="434340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7552" y="1737360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102A26"/>
                </a:solidFill>
                <a:latin typeface="Calibri"/>
              </a:rPr>
              <a:t>Current safeguards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7552" y="2176272"/>
            <a:ext cx="4343400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24712" y="2304288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11845B"/>
                </a:solidFill>
                <a:latin typeface="Courier New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2295144"/>
            <a:ext cx="3630168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102A26"/>
                </a:solidFill>
                <a:latin typeface="Calibri"/>
              </a:rPr>
              <a:t>TOKEN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2569464"/>
            <a:ext cx="3630168" cy="6400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>
                <a:solidFill>
                  <a:srgbClr val="41645C"/>
                </a:solidFill>
                <a:latin typeface="Calibri"/>
              </a:rPr>
              <a:t>Supabase bearer token checks protect mutations.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7552" y="2889504"/>
            <a:ext cx="4343400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24712" y="3017520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2563EB"/>
                </a:solidFill>
                <a:latin typeface="Courier New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008376"/>
            <a:ext cx="3630168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102A26"/>
                </a:solidFill>
                <a:latin typeface="Calibri"/>
              </a:rPr>
              <a:t>REQUEST DISCIPLINE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3282696"/>
            <a:ext cx="3630168" cy="6400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>
                <a:solidFill>
                  <a:srgbClr val="41645C"/>
                </a:solidFill>
                <a:latin typeface="Calibri"/>
              </a:rPr>
              <a:t>CORS, JSON limits, request IDs and centralized helpers.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7552" y="3602736"/>
            <a:ext cx="4343400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24712" y="3730752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6D28D9"/>
                </a:solidFill>
                <a:latin typeface="Courier New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3721608"/>
            <a:ext cx="3630168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102A26"/>
                </a:solidFill>
                <a:latin typeface="Calibri"/>
              </a:rPr>
              <a:t>OBSERVABILITY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3995928"/>
            <a:ext cx="3630168" cy="6400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>
                <a:solidFill>
                  <a:srgbClr val="41645C"/>
                </a:solidFill>
                <a:latin typeface="Calibri"/>
              </a:rPr>
              <a:t>Pino logging plus Prometheus request duration metrics.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7552" y="4315968"/>
            <a:ext cx="4343400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124712" y="4443983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B45309"/>
                </a:solidFill>
                <a:latin typeface="Courier New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4434840"/>
            <a:ext cx="3630168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102A26"/>
                </a:solidFill>
                <a:latin typeface="Calibri"/>
              </a:rPr>
              <a:t>RELIABLE FAN-OUT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709159"/>
            <a:ext cx="3630168" cy="6400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>
                <a:solidFill>
                  <a:srgbClr val="41645C"/>
                </a:solidFill>
                <a:latin typeface="Calibri"/>
              </a:rPr>
              <a:t>Outbox rows retry websocket delivery safely.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7104" y="1737360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102A26"/>
                </a:solidFill>
                <a:latin typeface="Calibri"/>
              </a:rPr>
              <a:t>Future scope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47104" y="2176272"/>
            <a:ext cx="4343400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84264" y="2304288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11845B"/>
                </a:solidFill>
                <a:latin typeface="Courier New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4032" y="2295144"/>
            <a:ext cx="3630168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102A26"/>
                </a:solidFill>
                <a:latin typeface="Calibri"/>
              </a:rPr>
              <a:t>TEACHER ANALYTICS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2569464"/>
            <a:ext cx="3630168" cy="6400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>
                <a:solidFill>
                  <a:srgbClr val="41645C"/>
                </a:solidFill>
                <a:latin typeface="Calibri"/>
              </a:rPr>
              <a:t>Deeper classroom trends, intervention signals and exports.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47104" y="2889504"/>
            <a:ext cx="4343400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684264" y="3017520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2563EB"/>
                </a:solidFill>
                <a:latin typeface="Courier New"/>
              </a:rPr>
              <a:t>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14032" y="3008376"/>
            <a:ext cx="3630168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102A26"/>
                </a:solidFill>
                <a:latin typeface="Calibri"/>
              </a:rPr>
              <a:t>CONTENT INTELLIGENCE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3282696"/>
            <a:ext cx="3630168" cy="6400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>
                <a:solidFill>
                  <a:srgbClr val="41645C"/>
                </a:solidFill>
                <a:latin typeface="Calibri"/>
              </a:rPr>
              <a:t>AI summaries and adaptive recommendations by grade band.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47104" y="3602736"/>
            <a:ext cx="4343400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684264" y="3730752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6D28D9"/>
                </a:solidFill>
                <a:latin typeface="Courier New"/>
              </a:rP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14032" y="3721608"/>
            <a:ext cx="3630168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102A26"/>
                </a:solidFill>
                <a:latin typeface="Calibri"/>
              </a:rPr>
              <a:t>PRODUCTION INFRA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3995928"/>
            <a:ext cx="3630168" cy="6400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>
                <a:solidFill>
                  <a:srgbClr val="41645C"/>
                </a:solidFill>
                <a:latin typeface="Calibri"/>
              </a:rPr>
              <a:t>CI/CD, managed database, cache, alerts and backup policy.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47104" y="4315968"/>
            <a:ext cx="4343400" cy="566928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684264" y="4443983"/>
            <a:ext cx="384048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540" b="1">
                <a:solidFill>
                  <a:srgbClr val="B45309"/>
                </a:solidFill>
                <a:latin typeface="Courier New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14032" y="4434840"/>
            <a:ext cx="3630168" cy="228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20" b="1">
                <a:solidFill>
                  <a:srgbClr val="102A26"/>
                </a:solidFill>
                <a:latin typeface="Calibri"/>
              </a:rPr>
              <a:t>IMPACT TRACKING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14032" y="4709159"/>
            <a:ext cx="3630168" cy="6400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70" b="0">
                <a:solidFill>
                  <a:srgbClr val="41645C"/>
                </a:solidFill>
                <a:latin typeface="Calibri"/>
              </a:rPr>
              <a:t>Verified eco-activities mapped to school and community goals.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6437376"/>
            <a:ext cx="11201400" cy="9144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02920" y="6492240"/>
            <a:ext cx="5943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Gamified learning | Role-aware dashboards | Realtime games | Environmental data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3EEA5-2517-963D-30D7-EE61C5BC9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EduEarth Theme Background - cover" descr="eduearth_bg_cover.jpg">
            <a:extLst>
              <a:ext uri="{FF2B5EF4-FFF2-40B4-BE49-F238E27FC236}">
                <a16:creationId xmlns:a16="http://schemas.microsoft.com/office/drawing/2014/main" id="{E90379C0-94FD-6C2B-AEB7-A80B02F046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" y="0"/>
            <a:ext cx="12191999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03FCFD0-9154-0F8B-AAC1-0B1F57AC12FE}"/>
              </a:ext>
            </a:extLst>
          </p:cNvPr>
          <p:cNvSpPr/>
          <p:nvPr/>
        </p:nvSpPr>
        <p:spPr>
          <a:xfrm>
            <a:off x="10012680" y="658368"/>
            <a:ext cx="1005840" cy="91440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908E83-0910-B7A5-8399-D04EA716E818}"/>
              </a:ext>
            </a:extLst>
          </p:cNvPr>
          <p:cNvSpPr/>
          <p:nvPr/>
        </p:nvSpPr>
        <p:spPr>
          <a:xfrm>
            <a:off x="11064240" y="658368"/>
            <a:ext cx="41148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68AE9D-8F86-4C9E-8BA0-0D7774273F24}"/>
              </a:ext>
            </a:extLst>
          </p:cNvPr>
          <p:cNvSpPr/>
          <p:nvPr/>
        </p:nvSpPr>
        <p:spPr>
          <a:xfrm>
            <a:off x="658368" y="6080760"/>
            <a:ext cx="64008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99C6935-55D4-50F6-0B36-BE19E57E59B5}"/>
              </a:ext>
            </a:extLst>
          </p:cNvPr>
          <p:cNvSpPr/>
          <p:nvPr/>
        </p:nvSpPr>
        <p:spPr>
          <a:xfrm>
            <a:off x="1389888" y="6080760"/>
            <a:ext cx="1097280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5FA8CE-9DB3-3D5E-54D8-C0C2DFF142EC}"/>
              </a:ext>
            </a:extLst>
          </p:cNvPr>
          <p:cNvSpPr/>
          <p:nvPr/>
        </p:nvSpPr>
        <p:spPr>
          <a:xfrm>
            <a:off x="11475720" y="1143000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3F0263-AB04-E31F-0412-885FB7A572F0}"/>
              </a:ext>
            </a:extLst>
          </p:cNvPr>
          <p:cNvSpPr/>
          <p:nvPr/>
        </p:nvSpPr>
        <p:spPr>
          <a:xfrm>
            <a:off x="11475720" y="1344168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9E6984-175D-1CCF-07EC-7E947589B4FA}"/>
              </a:ext>
            </a:extLst>
          </p:cNvPr>
          <p:cNvSpPr/>
          <p:nvPr/>
        </p:nvSpPr>
        <p:spPr>
          <a:xfrm>
            <a:off x="11475720" y="1545336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7CDB1E-F6B8-614C-54B8-2BFBF5D2ECD8}"/>
              </a:ext>
            </a:extLst>
          </p:cNvPr>
          <p:cNvSpPr/>
          <p:nvPr/>
        </p:nvSpPr>
        <p:spPr>
          <a:xfrm>
            <a:off x="11475720" y="1746504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0170ED-6B9D-BD63-0F4A-2A0743D26643}"/>
              </a:ext>
            </a:extLst>
          </p:cNvPr>
          <p:cNvSpPr/>
          <p:nvPr/>
        </p:nvSpPr>
        <p:spPr>
          <a:xfrm>
            <a:off x="11475720" y="1947672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FB3704-6839-E05C-375D-123F4C5B5902}"/>
              </a:ext>
            </a:extLst>
          </p:cNvPr>
          <p:cNvSpPr txBox="1"/>
          <p:nvPr/>
        </p:nvSpPr>
        <p:spPr>
          <a:xfrm>
            <a:off x="502920" y="219456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>
                <a:solidFill>
                  <a:srgbClr val="41645C"/>
                </a:solidFill>
                <a:latin typeface="Calibri"/>
              </a:rPr>
              <a:t>EduEarth | Project Presentation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36A547-E2BA-686C-EC4B-283D427E83A9}"/>
              </a:ext>
            </a:extLst>
          </p:cNvPr>
          <p:cNvSpPr txBox="1"/>
          <p:nvPr/>
        </p:nvSpPr>
        <p:spPr>
          <a:xfrm>
            <a:off x="4297680" y="201168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1120" b="1">
                <a:solidFill>
                  <a:srgbClr val="41645C"/>
                </a:solidFill>
                <a:latin typeface="Calibri"/>
              </a:rPr>
              <a:t>Closing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0BB1A9-1D39-4DB3-9EB2-0D2C7AAFFF29}"/>
              </a:ext>
            </a:extLst>
          </p:cNvPr>
          <p:cNvSpPr txBox="1"/>
          <p:nvPr/>
        </p:nvSpPr>
        <p:spPr>
          <a:xfrm>
            <a:off x="10561320" y="201168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120" b="1">
                <a:solidFill>
                  <a:srgbClr val="41645C"/>
                </a:solidFill>
                <a:latin typeface="Courier New"/>
              </a:rPr>
              <a:t>16 / 16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4F7E2A3-7607-0D86-4195-31664F11E930}"/>
              </a:ext>
            </a:extLst>
          </p:cNvPr>
          <p:cNvSpPr/>
          <p:nvPr/>
        </p:nvSpPr>
        <p:spPr>
          <a:xfrm>
            <a:off x="502920" y="566928"/>
            <a:ext cx="73152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9830B1-89E3-C44C-9D50-7FCBDB583413}"/>
              </a:ext>
            </a:extLst>
          </p:cNvPr>
          <p:cNvSpPr/>
          <p:nvPr/>
        </p:nvSpPr>
        <p:spPr>
          <a:xfrm>
            <a:off x="621792" y="566928"/>
            <a:ext cx="731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5257782-1C75-DB09-3795-198CC4CCD667}"/>
              </a:ext>
            </a:extLst>
          </p:cNvPr>
          <p:cNvSpPr/>
          <p:nvPr/>
        </p:nvSpPr>
        <p:spPr>
          <a:xfrm>
            <a:off x="740664" y="566928"/>
            <a:ext cx="73152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18" name="Picture 17" descr="EduEarth-logo-small.png">
            <a:extLst>
              <a:ext uri="{FF2B5EF4-FFF2-40B4-BE49-F238E27FC236}">
                <a16:creationId xmlns:a16="http://schemas.microsoft.com/office/drawing/2014/main" id="{63C2BD02-61AE-406C-2BCF-743373013A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1316048"/>
            <a:ext cx="640080" cy="531727"/>
          </a:xfrm>
          <a:prstGeom prst="rect">
            <a:avLst/>
          </a:prstGeom>
          <a:ln>
            <a:solidFill/>
          </a:ln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6346446-9D84-0D5E-777E-C0BD4F3D5D00}"/>
              </a:ext>
            </a:extLst>
          </p:cNvPr>
          <p:cNvSpPr txBox="1"/>
          <p:nvPr/>
        </p:nvSpPr>
        <p:spPr>
          <a:xfrm>
            <a:off x="1847088" y="1353312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100" b="1" dirty="0" err="1">
                <a:solidFill>
                  <a:srgbClr val="102A26"/>
                </a:solidFill>
                <a:latin typeface="Calibri"/>
              </a:rPr>
              <a:t>Eduarth</a:t>
            </a:r>
            <a:endParaRPr sz="2100" b="1" dirty="0">
              <a:solidFill>
                <a:srgbClr val="102A26"/>
              </a:solidFill>
              <a:latin typeface="Calibri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758970-B173-4000-DE55-7BBD87F98C91}"/>
              </a:ext>
            </a:extLst>
          </p:cNvPr>
          <p:cNvSpPr txBox="1"/>
          <p:nvPr/>
        </p:nvSpPr>
        <p:spPr>
          <a:xfrm>
            <a:off x="8778240" y="1389888"/>
            <a:ext cx="16002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070" b="1">
                <a:solidFill>
                  <a:srgbClr val="41645C"/>
                </a:solidFill>
                <a:latin typeface="Courier New"/>
              </a:rPr>
              <a:t>Project Presentation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A996D7-200F-EFE3-7CED-D529C9DBB906}"/>
              </a:ext>
            </a:extLst>
          </p:cNvPr>
          <p:cNvSpPr txBox="1"/>
          <p:nvPr/>
        </p:nvSpPr>
        <p:spPr>
          <a:xfrm>
            <a:off x="1124712" y="2148840"/>
            <a:ext cx="292608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endParaRPr sz="6400" b="1" dirty="0">
              <a:solidFill>
                <a:srgbClr val="102A26"/>
              </a:solidFill>
              <a:latin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503536-CE74-87FB-7065-F9B3336DE356}"/>
              </a:ext>
            </a:extLst>
          </p:cNvPr>
          <p:cNvSpPr txBox="1"/>
          <p:nvPr/>
        </p:nvSpPr>
        <p:spPr>
          <a:xfrm>
            <a:off x="1124712" y="2816352"/>
            <a:ext cx="265176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6400" b="1" dirty="0">
                <a:solidFill>
                  <a:srgbClr val="11845B"/>
                </a:solidFill>
                <a:latin typeface="Calibri"/>
              </a:rPr>
              <a:t>you.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AB60F7-E201-3EEE-8899-53593BA9FEDD}"/>
              </a:ext>
            </a:extLst>
          </p:cNvPr>
          <p:cNvSpPr txBox="1"/>
          <p:nvPr/>
        </p:nvSpPr>
        <p:spPr>
          <a:xfrm>
            <a:off x="1170432" y="3712463"/>
            <a:ext cx="4663440" cy="34747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900" b="1">
                <a:solidFill>
                  <a:srgbClr val="102A26"/>
                </a:solidFill>
                <a:latin typeface="Calibri"/>
              </a:rPr>
              <a:t>Questions, feedback and collaboration are welcome.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AA7547-E654-7B6A-A945-DE48C5D05AAC}"/>
              </a:ext>
            </a:extLst>
          </p:cNvPr>
          <p:cNvSpPr txBox="1"/>
          <p:nvPr/>
        </p:nvSpPr>
        <p:spPr>
          <a:xfrm>
            <a:off x="1188720" y="4224528"/>
            <a:ext cx="475488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0">
                <a:solidFill>
                  <a:srgbClr val="41645C"/>
                </a:solidFill>
                <a:latin typeface="Calibri"/>
              </a:rPr>
              <a:t>Built as a full-stack environmental learning platform with gamified modules, realtime games, dashboards, API services and an Airflow ingestion layer.</a:t>
            </a:r>
          </a:p>
        </p:txBody>
      </p:sp>
      <p:pic>
        <p:nvPicPr>
          <p:cNvPr id="25" name="Picture 24" descr="8_Game_EcoSprint.png">
            <a:extLst>
              <a:ext uri="{FF2B5EF4-FFF2-40B4-BE49-F238E27FC236}">
                <a16:creationId xmlns:a16="http://schemas.microsoft.com/office/drawing/2014/main" id="{71E03567-9CD0-38E2-673C-701FD2726C0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828" b="1828"/>
          <a:stretch>
            <a:fillRect/>
          </a:stretch>
        </p:blipFill>
        <p:spPr>
          <a:xfrm>
            <a:off x="6537960" y="1874519"/>
            <a:ext cx="4251960" cy="2560320"/>
          </a:xfrm>
          <a:prstGeom prst="rect">
            <a:avLst/>
          </a:prstGeom>
          <a:ln>
            <a:solidFill/>
          </a:ln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E8619A3C-971E-3C12-E537-29D481B46A37}"/>
              </a:ext>
            </a:extLst>
          </p:cNvPr>
          <p:cNvSpPr/>
          <p:nvPr/>
        </p:nvSpPr>
        <p:spPr>
          <a:xfrm>
            <a:off x="6537960" y="1874519"/>
            <a:ext cx="4251960" cy="2560320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77348B32-DD0F-88A4-0D0F-3F7997BFAA17}"/>
              </a:ext>
            </a:extLst>
          </p:cNvPr>
          <p:cNvSpPr/>
          <p:nvPr/>
        </p:nvSpPr>
        <p:spPr>
          <a:xfrm>
            <a:off x="6565392" y="4681728"/>
            <a:ext cx="786384" cy="256032"/>
          </a:xfrm>
          <a:prstGeom prst="roundRect">
            <a:avLst/>
          </a:prstGeom>
          <a:solidFill>
            <a:srgbClr val="11845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B26DD5-FBD7-45F7-948F-C09E13AFC7AA}"/>
              </a:ext>
            </a:extLst>
          </p:cNvPr>
          <p:cNvSpPr txBox="1"/>
          <p:nvPr/>
        </p:nvSpPr>
        <p:spPr>
          <a:xfrm>
            <a:off x="6638544" y="4700016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19" b="1">
                <a:solidFill>
                  <a:srgbClr val="102A26"/>
                </a:solidFill>
                <a:latin typeface="Calibri"/>
              </a:rPr>
              <a:t>LEARN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39C850D2-E7B9-FAF2-0CEC-58ACEB65278B}"/>
              </a:ext>
            </a:extLst>
          </p:cNvPr>
          <p:cNvSpPr/>
          <p:nvPr/>
        </p:nvSpPr>
        <p:spPr>
          <a:xfrm>
            <a:off x="7552944" y="4681728"/>
            <a:ext cx="786384" cy="256032"/>
          </a:xfrm>
          <a:prstGeom prst="roundRect">
            <a:avLst/>
          </a:prstGeom>
          <a:solidFill>
            <a:srgbClr val="2563E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33F177-DEB3-B6A6-80DF-95B82CD744EC}"/>
              </a:ext>
            </a:extLst>
          </p:cNvPr>
          <p:cNvSpPr txBox="1"/>
          <p:nvPr/>
        </p:nvSpPr>
        <p:spPr>
          <a:xfrm>
            <a:off x="7626096" y="4700016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19" b="1">
                <a:solidFill>
                  <a:srgbClr val="102A26"/>
                </a:solidFill>
                <a:latin typeface="Calibri"/>
              </a:rPr>
              <a:t>PLAY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D5960EF8-FBA6-4C18-6C72-7E872F762F39}"/>
              </a:ext>
            </a:extLst>
          </p:cNvPr>
          <p:cNvSpPr/>
          <p:nvPr/>
        </p:nvSpPr>
        <p:spPr>
          <a:xfrm>
            <a:off x="8540496" y="4681728"/>
            <a:ext cx="786384" cy="256032"/>
          </a:xfrm>
          <a:prstGeom prst="roundRect">
            <a:avLst/>
          </a:prstGeom>
          <a:solidFill>
            <a:srgbClr val="6D28D9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40EC1A4-9A42-E3DB-C481-123E8AD7772E}"/>
              </a:ext>
            </a:extLst>
          </p:cNvPr>
          <p:cNvSpPr txBox="1"/>
          <p:nvPr/>
        </p:nvSpPr>
        <p:spPr>
          <a:xfrm>
            <a:off x="8613648" y="4700016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19" b="1">
                <a:solidFill>
                  <a:srgbClr val="102A26"/>
                </a:solidFill>
                <a:latin typeface="Calibri"/>
              </a:rPr>
              <a:t>ACT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84F03D2E-402E-801A-AA83-0B441157F0C9}"/>
              </a:ext>
            </a:extLst>
          </p:cNvPr>
          <p:cNvSpPr/>
          <p:nvPr/>
        </p:nvSpPr>
        <p:spPr>
          <a:xfrm>
            <a:off x="9528048" y="4681728"/>
            <a:ext cx="786384" cy="256032"/>
          </a:xfrm>
          <a:prstGeom prst="roundRect">
            <a:avLst/>
          </a:prstGeom>
          <a:solidFill>
            <a:srgbClr val="B45309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0699904-903C-104C-DE03-31AF49EA8BFD}"/>
              </a:ext>
            </a:extLst>
          </p:cNvPr>
          <p:cNvSpPr txBox="1"/>
          <p:nvPr/>
        </p:nvSpPr>
        <p:spPr>
          <a:xfrm>
            <a:off x="9601200" y="4700016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19" b="1">
                <a:solidFill>
                  <a:srgbClr val="102A26"/>
                </a:solidFill>
                <a:latin typeface="Calibri"/>
              </a:rPr>
              <a:t>TRACK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03567E-2EF6-D251-36A2-8B577CDA484B}"/>
              </a:ext>
            </a:extLst>
          </p:cNvPr>
          <p:cNvSpPr/>
          <p:nvPr/>
        </p:nvSpPr>
        <p:spPr>
          <a:xfrm>
            <a:off x="502920" y="6437376"/>
            <a:ext cx="11201400" cy="9144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7CA8CDA-1F48-04FC-0BC2-58C422C12741}"/>
              </a:ext>
            </a:extLst>
          </p:cNvPr>
          <p:cNvSpPr txBox="1"/>
          <p:nvPr/>
        </p:nvSpPr>
        <p:spPr>
          <a:xfrm>
            <a:off x="502920" y="6492240"/>
            <a:ext cx="5943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Gamified learning | Role-aware dashboards | Realtime games | Environmental data</a:t>
            </a:r>
          </a:p>
        </p:txBody>
      </p:sp>
      <p:pic>
        <p:nvPicPr>
          <p:cNvPr id="38" name="EduEarth Theme Background - cover" descr="eduearth_bg_cover.jpg">
            <a:extLst>
              <a:ext uri="{FF2B5EF4-FFF2-40B4-BE49-F238E27FC236}">
                <a16:creationId xmlns:a16="http://schemas.microsoft.com/office/drawing/2014/main" id="{555B02C0-D457-5EFA-232F-A345054E3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7D8B5E2F-59E7-4058-4BC7-F2F26B05581B}"/>
              </a:ext>
            </a:extLst>
          </p:cNvPr>
          <p:cNvSpPr/>
          <p:nvPr/>
        </p:nvSpPr>
        <p:spPr>
          <a:xfrm>
            <a:off x="9890761" y="658368"/>
            <a:ext cx="1005840" cy="91440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232FF5F-75D0-AFE0-5330-FC1B2CF2FAE9}"/>
              </a:ext>
            </a:extLst>
          </p:cNvPr>
          <p:cNvSpPr/>
          <p:nvPr/>
        </p:nvSpPr>
        <p:spPr>
          <a:xfrm>
            <a:off x="10942321" y="658368"/>
            <a:ext cx="41148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6104D9B-7FA7-F527-865C-1DCC327BF229}"/>
              </a:ext>
            </a:extLst>
          </p:cNvPr>
          <p:cNvSpPr/>
          <p:nvPr/>
        </p:nvSpPr>
        <p:spPr>
          <a:xfrm>
            <a:off x="536449" y="6080760"/>
            <a:ext cx="64008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F99CB5C-CB23-77E7-6EBD-B0374ADE5977}"/>
              </a:ext>
            </a:extLst>
          </p:cNvPr>
          <p:cNvSpPr/>
          <p:nvPr/>
        </p:nvSpPr>
        <p:spPr>
          <a:xfrm>
            <a:off x="1267969" y="6080760"/>
            <a:ext cx="1097280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6443939-DECD-1888-67E2-782657FE051B}"/>
              </a:ext>
            </a:extLst>
          </p:cNvPr>
          <p:cNvSpPr/>
          <p:nvPr/>
        </p:nvSpPr>
        <p:spPr>
          <a:xfrm>
            <a:off x="11353801" y="1143000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B25E072-FBCE-34C5-653E-191024405978}"/>
              </a:ext>
            </a:extLst>
          </p:cNvPr>
          <p:cNvSpPr/>
          <p:nvPr/>
        </p:nvSpPr>
        <p:spPr>
          <a:xfrm>
            <a:off x="11353801" y="1344168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944EA6A-877F-F241-1069-E4F21F08365D}"/>
              </a:ext>
            </a:extLst>
          </p:cNvPr>
          <p:cNvSpPr/>
          <p:nvPr/>
        </p:nvSpPr>
        <p:spPr>
          <a:xfrm>
            <a:off x="11353801" y="1545336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A20A580-21BC-2BF9-C8B9-B406DA906B7E}"/>
              </a:ext>
            </a:extLst>
          </p:cNvPr>
          <p:cNvSpPr/>
          <p:nvPr/>
        </p:nvSpPr>
        <p:spPr>
          <a:xfrm>
            <a:off x="11353801" y="1746504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E1F65FA-EF47-7BFD-1AAA-72A45B9A1652}"/>
              </a:ext>
            </a:extLst>
          </p:cNvPr>
          <p:cNvSpPr/>
          <p:nvPr/>
        </p:nvSpPr>
        <p:spPr>
          <a:xfrm>
            <a:off x="11353801" y="1947672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FBEBAE-E0D0-9912-6570-1D6F861268C2}"/>
              </a:ext>
            </a:extLst>
          </p:cNvPr>
          <p:cNvSpPr txBox="1"/>
          <p:nvPr/>
        </p:nvSpPr>
        <p:spPr>
          <a:xfrm>
            <a:off x="381001" y="219456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>
                <a:solidFill>
                  <a:srgbClr val="41645C"/>
                </a:solidFill>
                <a:latin typeface="Calibri"/>
              </a:rPr>
              <a:t>EduEarth | Project Presentation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3081D92-66C4-0864-7AEA-ECE55B7E4685}"/>
              </a:ext>
            </a:extLst>
          </p:cNvPr>
          <p:cNvSpPr txBox="1"/>
          <p:nvPr/>
        </p:nvSpPr>
        <p:spPr>
          <a:xfrm>
            <a:off x="4175761" y="201168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lang="en-US" sz="1120" b="1" dirty="0">
                <a:solidFill>
                  <a:srgbClr val="41645C"/>
                </a:solidFill>
                <a:latin typeface="Calibri"/>
              </a:rPr>
              <a:t>Video Presentation</a:t>
            </a:r>
            <a:endParaRPr sz="1120" b="1" dirty="0">
              <a:solidFill>
                <a:srgbClr val="41645C"/>
              </a:solidFill>
              <a:latin typeface="Calibri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F01FE47-3ACA-D36D-4AD2-7A7E90EFF301}"/>
              </a:ext>
            </a:extLst>
          </p:cNvPr>
          <p:cNvSpPr txBox="1"/>
          <p:nvPr/>
        </p:nvSpPr>
        <p:spPr>
          <a:xfrm>
            <a:off x="10439401" y="201168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120" b="1" dirty="0">
                <a:solidFill>
                  <a:srgbClr val="41645C"/>
                </a:solidFill>
                <a:latin typeface="Courier New"/>
              </a:rPr>
              <a:t>16 / 1</a:t>
            </a:r>
            <a:r>
              <a:rPr lang="en-US" sz="1120" b="1" dirty="0">
                <a:solidFill>
                  <a:srgbClr val="41645C"/>
                </a:solidFill>
                <a:latin typeface="Courier New"/>
              </a:rPr>
              <a:t>7</a:t>
            </a:r>
            <a:endParaRPr sz="1120" b="1" dirty="0">
              <a:solidFill>
                <a:srgbClr val="41645C"/>
              </a:solidFill>
              <a:latin typeface="Courier New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C362ABF-CA70-9B28-566D-153B4283DF8E}"/>
              </a:ext>
            </a:extLst>
          </p:cNvPr>
          <p:cNvSpPr/>
          <p:nvPr/>
        </p:nvSpPr>
        <p:spPr>
          <a:xfrm>
            <a:off x="381001" y="566928"/>
            <a:ext cx="73152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4000665-974C-BEC4-D18C-CE3F0992E70A}"/>
              </a:ext>
            </a:extLst>
          </p:cNvPr>
          <p:cNvSpPr/>
          <p:nvPr/>
        </p:nvSpPr>
        <p:spPr>
          <a:xfrm>
            <a:off x="499873" y="566928"/>
            <a:ext cx="731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6D79C32-482F-F839-5084-755652E6C6CF}"/>
              </a:ext>
            </a:extLst>
          </p:cNvPr>
          <p:cNvSpPr/>
          <p:nvPr/>
        </p:nvSpPr>
        <p:spPr>
          <a:xfrm>
            <a:off x="618745" y="566928"/>
            <a:ext cx="73152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A1E7A96-B3EF-AE4B-C2F1-B17B7E7CB2B9}"/>
              </a:ext>
            </a:extLst>
          </p:cNvPr>
          <p:cNvSpPr txBox="1"/>
          <p:nvPr/>
        </p:nvSpPr>
        <p:spPr>
          <a:xfrm>
            <a:off x="1725169" y="1353312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endParaRPr sz="2100" b="1" dirty="0">
              <a:solidFill>
                <a:srgbClr val="102A26"/>
              </a:solidFill>
              <a:latin typeface="Calibri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E4B4553-333C-8CEF-2D02-C76A821F8D3D}"/>
              </a:ext>
            </a:extLst>
          </p:cNvPr>
          <p:cNvSpPr txBox="1"/>
          <p:nvPr/>
        </p:nvSpPr>
        <p:spPr>
          <a:xfrm>
            <a:off x="8656321" y="1389888"/>
            <a:ext cx="16002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070" b="1" dirty="0">
                <a:solidFill>
                  <a:srgbClr val="41645C"/>
                </a:solidFill>
                <a:latin typeface="Courier New"/>
              </a:rPr>
              <a:t>Project Presentat</a:t>
            </a:r>
            <a:r>
              <a:rPr lang="en-US" sz="1070" b="1" dirty="0">
                <a:solidFill>
                  <a:srgbClr val="41645C"/>
                </a:solidFill>
                <a:latin typeface="Courier New"/>
              </a:rPr>
              <a:t>i</a:t>
            </a:r>
            <a:r>
              <a:rPr sz="1070" b="1" dirty="0">
                <a:solidFill>
                  <a:srgbClr val="41645C"/>
                </a:solidFill>
                <a:latin typeface="Courier New"/>
              </a:rPr>
              <a:t>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331A95-7CEF-E243-A0B2-6A30B2861BAA}"/>
              </a:ext>
            </a:extLst>
          </p:cNvPr>
          <p:cNvSpPr txBox="1"/>
          <p:nvPr/>
        </p:nvSpPr>
        <p:spPr>
          <a:xfrm>
            <a:off x="1002793" y="2148840"/>
            <a:ext cx="292608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endParaRPr sz="6400" b="1" dirty="0">
              <a:solidFill>
                <a:srgbClr val="102A26"/>
              </a:solidFill>
              <a:latin typeface="Calibri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4CD7699-681C-BAAF-F831-49AD817AD81C}"/>
              </a:ext>
            </a:extLst>
          </p:cNvPr>
          <p:cNvSpPr txBox="1"/>
          <p:nvPr/>
        </p:nvSpPr>
        <p:spPr>
          <a:xfrm>
            <a:off x="1002793" y="2816352"/>
            <a:ext cx="265176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endParaRPr sz="6400" b="1" dirty="0">
              <a:solidFill>
                <a:srgbClr val="11845B"/>
              </a:solidFill>
              <a:latin typeface="Calibri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177CAAE-2C95-2619-00B9-3C114F4E536E}"/>
              </a:ext>
            </a:extLst>
          </p:cNvPr>
          <p:cNvSpPr/>
          <p:nvPr/>
        </p:nvSpPr>
        <p:spPr>
          <a:xfrm>
            <a:off x="6416041" y="1874519"/>
            <a:ext cx="4251960" cy="2560320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76C1F4E-A2CE-3944-752E-BF824BE91E89}"/>
              </a:ext>
            </a:extLst>
          </p:cNvPr>
          <p:cNvSpPr/>
          <p:nvPr/>
        </p:nvSpPr>
        <p:spPr>
          <a:xfrm>
            <a:off x="381001" y="6437376"/>
            <a:ext cx="11201400" cy="9144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13536ED-A8FD-3962-CF38-BF41A106EBF0}"/>
              </a:ext>
            </a:extLst>
          </p:cNvPr>
          <p:cNvSpPr txBox="1"/>
          <p:nvPr/>
        </p:nvSpPr>
        <p:spPr>
          <a:xfrm>
            <a:off x="381001" y="6492240"/>
            <a:ext cx="5943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Gamified learning | Role-aware dashboards | Realtime games | Environmental data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EEE3F38-ABB0-5F83-49FE-876917D8D77B}"/>
              </a:ext>
            </a:extLst>
          </p:cNvPr>
          <p:cNvSpPr txBox="1"/>
          <p:nvPr/>
        </p:nvSpPr>
        <p:spPr>
          <a:xfrm>
            <a:off x="2487168" y="2514600"/>
            <a:ext cx="466344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0" dirty="0">
                <a:solidFill>
                  <a:srgbClr val="00B050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CLICK ME⬅️</a:t>
            </a:r>
            <a:endParaRPr lang="en-US" sz="5000" dirty="0">
              <a:solidFill>
                <a:srgbClr val="00B050"/>
              </a:solidFill>
            </a:endParaRPr>
          </a:p>
        </p:txBody>
      </p:sp>
      <p:pic>
        <p:nvPicPr>
          <p:cNvPr id="74" name="Picture 73" descr="1_home.png">
            <a:extLst>
              <a:ext uri="{FF2B5EF4-FFF2-40B4-BE49-F238E27FC236}">
                <a16:creationId xmlns:a16="http://schemas.microsoft.com/office/drawing/2014/main" id="{D28EC4E5-574B-DDF1-53F0-FFB31C28653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268" r="20268"/>
          <a:stretch>
            <a:fillRect/>
          </a:stretch>
        </p:blipFill>
        <p:spPr>
          <a:xfrm>
            <a:off x="6042661" y="704088"/>
            <a:ext cx="5806440" cy="4663440"/>
          </a:xfrm>
          <a:prstGeom prst="rect">
            <a:avLst/>
          </a:prstGeom>
          <a:ln>
            <a:solidFill/>
          </a:ln>
        </p:spPr>
      </p:pic>
    </p:spTree>
    <p:extLst>
      <p:ext uri="{BB962C8B-B14F-4D97-AF65-F5344CB8AC3E}">
        <p14:creationId xmlns:p14="http://schemas.microsoft.com/office/powerpoint/2010/main" val="2127866148"/>
      </p:ext>
    </p:extLst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EduEarth Theme Background - cover" descr="eduearth_bg_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88" y="0"/>
            <a:ext cx="12191999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0012680" y="658368"/>
            <a:ext cx="1005840" cy="91440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64240" y="658368"/>
            <a:ext cx="41148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58368" y="6080760"/>
            <a:ext cx="64008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89888" y="6080760"/>
            <a:ext cx="1097280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75720" y="1143000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75720" y="1344168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475720" y="1545336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75720" y="1746504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75720" y="1947672"/>
            <a:ext cx="109728" cy="36576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120" b="1">
                <a:solidFill>
                  <a:srgbClr val="41645C"/>
                </a:solidFill>
                <a:latin typeface="Calibri"/>
              </a:rPr>
              <a:t>EduEarth | Project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ctr"/>
            <a:r>
              <a:rPr sz="1120" b="1">
                <a:solidFill>
                  <a:srgbClr val="41645C"/>
                </a:solidFill>
                <a:latin typeface="Calibri"/>
              </a:rPr>
              <a:t>Closing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201168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120" b="1" dirty="0">
                <a:solidFill>
                  <a:srgbClr val="41645C"/>
                </a:solidFill>
                <a:latin typeface="Courier New"/>
              </a:rPr>
              <a:t>1</a:t>
            </a:r>
            <a:r>
              <a:rPr lang="en-US" sz="1120" b="1" dirty="0">
                <a:solidFill>
                  <a:srgbClr val="41645C"/>
                </a:solidFill>
                <a:latin typeface="Courier New"/>
              </a:rPr>
              <a:t>7</a:t>
            </a:r>
            <a:r>
              <a:rPr sz="1120" b="1" dirty="0">
                <a:solidFill>
                  <a:srgbClr val="41645C"/>
                </a:solidFill>
                <a:latin typeface="Courier New"/>
              </a:rPr>
              <a:t> / 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66928"/>
            <a:ext cx="73152" cy="73152"/>
          </a:xfrm>
          <a:prstGeom prst="rect">
            <a:avLst/>
          </a:prstGeom>
          <a:solidFill>
            <a:srgbClr val="11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" y="566928"/>
            <a:ext cx="731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0664" y="566928"/>
            <a:ext cx="73152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77240" y="813816"/>
            <a:ext cx="10652760" cy="5074920"/>
          </a:xfrm>
          <a:prstGeom prst="round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18" name="Picture 17" descr="EduEarth-logo-sm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1316048"/>
            <a:ext cx="640080" cy="531727"/>
          </a:xfrm>
          <a:prstGeom prst="rect">
            <a:avLst/>
          </a:prstGeom>
          <a:ln>
            <a:solidFill/>
          </a:ln>
        </p:spPr>
      </p:pic>
      <p:sp>
        <p:nvSpPr>
          <p:cNvPr id="19" name="TextBox 18"/>
          <p:cNvSpPr txBox="1"/>
          <p:nvPr/>
        </p:nvSpPr>
        <p:spPr>
          <a:xfrm>
            <a:off x="1847088" y="1353312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2100" b="1">
                <a:solidFill>
                  <a:srgbClr val="102A26"/>
                </a:solidFill>
                <a:latin typeface="Calibri"/>
              </a:rPr>
              <a:t>EduEarth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1389888"/>
            <a:ext cx="16002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r"/>
            <a:r>
              <a:rPr sz="1070" b="1">
                <a:solidFill>
                  <a:srgbClr val="41645C"/>
                </a:solidFill>
                <a:latin typeface="Courier New"/>
              </a:rPr>
              <a:t>Project Presentation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2148840"/>
            <a:ext cx="292608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6400" b="1">
                <a:solidFill>
                  <a:srgbClr val="102A26"/>
                </a:solidFill>
                <a:latin typeface="Calibri"/>
              </a:rPr>
              <a:t>Thank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2816352"/>
            <a:ext cx="265176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6400" b="1">
                <a:solidFill>
                  <a:srgbClr val="11845B"/>
                </a:solidFill>
                <a:latin typeface="Calibri"/>
              </a:rPr>
              <a:t>you.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3712463"/>
            <a:ext cx="4663440" cy="34747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900" b="1">
                <a:solidFill>
                  <a:srgbClr val="102A26"/>
                </a:solidFill>
                <a:latin typeface="Calibri"/>
              </a:rPr>
              <a:t>Questions, feedback and collaboration are welcome.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224528"/>
            <a:ext cx="475488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270" b="0">
                <a:solidFill>
                  <a:srgbClr val="41645C"/>
                </a:solidFill>
                <a:latin typeface="Calibri"/>
              </a:rPr>
              <a:t>Built as a full-stack environmental learning platform with gamified modules, realtime games, dashboards, API services and an Airflow ingestion layer.</a:t>
            </a:r>
          </a:p>
        </p:txBody>
      </p:sp>
      <p:pic>
        <p:nvPicPr>
          <p:cNvPr id="25" name="Picture 24" descr="8_Game_EcoSprint.png"/>
          <p:cNvPicPr>
            <a:picLocks noChangeAspect="1"/>
          </p:cNvPicPr>
          <p:nvPr/>
        </p:nvPicPr>
        <p:blipFill>
          <a:blip r:embed="rId5"/>
          <a:srcRect t="1828" b="1828"/>
          <a:stretch>
            <a:fillRect/>
          </a:stretch>
        </p:blipFill>
        <p:spPr>
          <a:xfrm>
            <a:off x="6537960" y="1874519"/>
            <a:ext cx="4251960" cy="2560320"/>
          </a:xfrm>
          <a:prstGeom prst="rect">
            <a:avLst/>
          </a:prstGeom>
          <a:ln>
            <a:solidFill/>
          </a:ln>
        </p:spPr>
      </p:pic>
      <p:sp>
        <p:nvSpPr>
          <p:cNvPr id="26" name="Rectangle 25"/>
          <p:cNvSpPr/>
          <p:nvPr/>
        </p:nvSpPr>
        <p:spPr>
          <a:xfrm>
            <a:off x="6537960" y="1874519"/>
            <a:ext cx="4251960" cy="2560320"/>
          </a:xfrm>
          <a:prstGeom prst="rect">
            <a:avLst/>
          </a:prstGeom>
          <a:noFill/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565392" y="4681728"/>
            <a:ext cx="786384" cy="256032"/>
          </a:xfrm>
          <a:prstGeom prst="roundRect">
            <a:avLst/>
          </a:prstGeom>
          <a:solidFill>
            <a:srgbClr val="11845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38544" y="4700016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19" b="1">
                <a:solidFill>
                  <a:srgbClr val="102A26"/>
                </a:solidFill>
                <a:latin typeface="Calibri"/>
              </a:rPr>
              <a:t>LEARN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52944" y="4681728"/>
            <a:ext cx="786384" cy="256032"/>
          </a:xfrm>
          <a:prstGeom prst="roundRect">
            <a:avLst/>
          </a:prstGeom>
          <a:solidFill>
            <a:srgbClr val="2563E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26096" y="4700016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19" b="1">
                <a:solidFill>
                  <a:srgbClr val="102A26"/>
                </a:solidFill>
                <a:latin typeface="Calibri"/>
              </a:rPr>
              <a:t>PLAY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40496" y="4681728"/>
            <a:ext cx="786384" cy="256032"/>
          </a:xfrm>
          <a:prstGeom prst="roundRect">
            <a:avLst/>
          </a:prstGeom>
          <a:solidFill>
            <a:srgbClr val="6D28D9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613648" y="4700016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19" b="1">
                <a:solidFill>
                  <a:srgbClr val="102A26"/>
                </a:solidFill>
                <a:latin typeface="Calibri"/>
              </a:rPr>
              <a:t>ACT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28048" y="4681728"/>
            <a:ext cx="786384" cy="256032"/>
          </a:xfrm>
          <a:prstGeom prst="roundRect">
            <a:avLst/>
          </a:prstGeom>
          <a:solidFill>
            <a:srgbClr val="B45309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01200" y="4700016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019" b="1">
                <a:solidFill>
                  <a:srgbClr val="102A26"/>
                </a:solidFill>
                <a:latin typeface="Calibri"/>
              </a:rPr>
              <a:t>TRACK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6437376"/>
            <a:ext cx="11201400" cy="9144"/>
          </a:xfrm>
          <a:prstGeom prst="rect">
            <a:avLst/>
          </a:prstGeom>
          <a:solidFill>
            <a:srgbClr val="BDD7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6492240"/>
            <a:ext cx="5943600" cy="20116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noAutofit/>
          </a:bodyPr>
          <a:lstStyle/>
          <a:p>
            <a:pPr algn="l"/>
            <a:r>
              <a:rPr sz="1019" b="0">
                <a:solidFill>
                  <a:srgbClr val="41645C"/>
                </a:solidFill>
                <a:latin typeface="Calibri"/>
              </a:rPr>
              <a:t>Gamified learning | Role-aware dashboards | Realtime games | Environmental data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2072</Words>
  <Application>Microsoft Office PowerPoint</Application>
  <PresentationFormat>Widescreen</PresentationFormat>
  <Paragraphs>391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Gourav Sittam Chaudhary</cp:lastModifiedBy>
  <cp:revision>13</cp:revision>
  <dcterms:created xsi:type="dcterms:W3CDTF">2013-01-27T09:14:16Z</dcterms:created>
  <dcterms:modified xsi:type="dcterms:W3CDTF">2026-05-21T18:34:11Z</dcterms:modified>
  <cp:category/>
</cp:coreProperties>
</file>