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450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EduEarth as a full-stack platform that turns environmental education into a practical learning, gaming and tracking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problem as engagement, teacher visibility and data readiness. Then show EduEarth as a loop of learn, play, act and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project around its stakeholders and the recurring product loop that keeps learners engaged.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as a quick product tour: home, dashboards, articles, modules and game experiences are all implemented and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user journey step by step, emphasizing that role-aware routing keeps the UX clean for students and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 frontend as a clear set of layers: routes, components, API/auth helpers and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auth state controls routing and how users move into modules, games, articles and class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chart to show breadth, then explain how assignments, missions, badges and leaderboards reinforce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each game briefly, then explain the realtime game loop from queue to match to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the Python and Airflow workspace decouples external fetching from the Express API and enriches content for curriculum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backend as REST plus realtime. Mention the observability and outbox publisher because those show production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two flows: standard REST request handling and reliable websocket fan-out through the outbox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data model by families instead of reading every table. The diagram gives depth while the left side keeps the story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as the main architecture explanation: the user-facing Next.js app talks to the Express API, realtime Socket.io services support games and updates, PostgreSQL stores domain data, and Airflow enriches external environmental feeds.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the technical story by showing what is already designed for safety and what can be expanded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audience and invite questions. Be ready to demo the dashboards, games and architecture diagrams.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EduEarth Theme Background - cover" descr="eduearth_bg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2680" y="658368"/>
            <a:ext cx="10058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658368"/>
            <a:ext cx="411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6080760"/>
            <a:ext cx="640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89888" y="6080760"/>
            <a:ext cx="109728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75720" y="1344168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75720" y="1545336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1746504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5720" y="1947672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1" name="Picture 10" descr="1_home.png"/>
          <p:cNvPicPr>
            <a:picLocks noChangeAspect="1"/>
          </p:cNvPicPr>
          <p:nvPr/>
        </p:nvPicPr>
        <p:blipFill>
          <a:blip r:embed="rId4"/>
          <a:srcRect l="20268" r="20268"/>
          <a:stretch>
            <a:fillRect/>
          </a:stretch>
        </p:blipFill>
        <p:spPr>
          <a:xfrm>
            <a:off x="5852160" y="530352"/>
            <a:ext cx="5806440" cy="4663440"/>
          </a:xfrm>
          <a:prstGeom prst="rect">
            <a:avLst/>
          </a:prstGeom>
          <a:ln>
            <a:solidFill/>
          </a:ln>
        </p:spPr>
      </p:pic>
      <p:sp>
        <p:nvSpPr>
          <p:cNvPr id="12" name="Rectangle 11"/>
          <p:cNvSpPr/>
          <p:nvPr/>
        </p:nvSpPr>
        <p:spPr>
          <a:xfrm>
            <a:off x="5852160" y="658368"/>
            <a:ext cx="5806440" cy="4663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512064"/>
            <a:ext cx="5074920" cy="466344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4" name="Picture 13" descr="EduEarth-logo-sm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916664"/>
            <a:ext cx="566928" cy="470958"/>
          </a:xfrm>
          <a:prstGeom prst="rect">
            <a:avLst/>
          </a:prstGeom>
          <a:ln>
            <a:solidFill/>
          </a:ln>
        </p:spPr>
      </p:pic>
      <p:sp>
        <p:nvSpPr>
          <p:cNvPr id="15" name="TextBox 14"/>
          <p:cNvSpPr txBox="1"/>
          <p:nvPr/>
        </p:nvSpPr>
        <p:spPr>
          <a:xfrm>
            <a:off x="1444752" y="93268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100" b="1">
                <a:solidFill>
                  <a:srgbClr val="102A26"/>
                </a:solidFill>
                <a:latin typeface="Calibri"/>
              </a:rPr>
              <a:t>EduEarth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97840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010" b="1">
                <a:solidFill>
                  <a:srgbClr val="41645C"/>
                </a:solidFill>
                <a:latin typeface="Courier New"/>
              </a:rPr>
              <a:t>PROJECT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664208"/>
            <a:ext cx="1965960" cy="7132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6200" b="1">
                <a:solidFill>
                  <a:srgbClr val="102A26"/>
                </a:solidFill>
                <a:latin typeface="Calibri"/>
              </a:rPr>
              <a:t>EDU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1664208"/>
            <a:ext cx="2423160" cy="7132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6200" b="1" dirty="0">
                <a:solidFill>
                  <a:srgbClr val="11845B"/>
                </a:solidFill>
                <a:latin typeface="Calibri"/>
              </a:rPr>
              <a:t>EARTH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2587752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000" b="1">
                <a:solidFill>
                  <a:srgbClr val="102A26"/>
                </a:solidFill>
                <a:latin typeface="Calibri"/>
              </a:rPr>
              <a:t>Where learning meets action for a sustainable future.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182112"/>
            <a:ext cx="425196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390" b="0" dirty="0">
                <a:solidFill>
                  <a:srgbClr val="41645C"/>
                </a:solidFill>
                <a:latin typeface="Calibri"/>
              </a:rPr>
              <a:t>A gamified environmental education platform for students, teachers and institutions.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" y="3913632"/>
            <a:ext cx="1143000" cy="91440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5" y="4078224"/>
            <a:ext cx="813816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>
                <a:solidFill>
                  <a:srgbClr val="11845B"/>
                </a:solidFill>
                <a:latin typeface="Courier New"/>
              </a:rPr>
              <a:t>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462272"/>
            <a:ext cx="813816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 dirty="0">
                <a:solidFill>
                  <a:srgbClr val="41645C"/>
                </a:solidFill>
                <a:latin typeface="Calibri"/>
              </a:rPr>
              <a:t>LEARNING MODULES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57984" y="3913632"/>
            <a:ext cx="1143000" cy="91440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22576" y="4078224"/>
            <a:ext cx="813816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ourier New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2576" y="4453128"/>
            <a:ext cx="813816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 dirty="0">
                <a:solidFill>
                  <a:srgbClr val="41645C"/>
                </a:solidFill>
                <a:latin typeface="Calibri"/>
              </a:rPr>
              <a:t>GAME MODES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38144" y="3913632"/>
            <a:ext cx="1325880" cy="91440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02736" y="4078224"/>
            <a:ext cx="996695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>
                <a:solidFill>
                  <a:srgbClr val="6D28D9"/>
                </a:solidFill>
                <a:latin typeface="Courier New"/>
              </a:rPr>
              <a:t>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2736" y="4517136"/>
            <a:ext cx="996695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 dirty="0">
                <a:solidFill>
                  <a:srgbClr val="41645C"/>
                </a:solidFill>
                <a:latin typeface="Calibri"/>
              </a:rPr>
              <a:t>API + REALTIME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37376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5242560"/>
            <a:ext cx="11460480" cy="914400"/>
          </a:xfrm>
          <a:prstGeom prst="roundRect">
            <a:avLst/>
          </a:prstGeom>
          <a:solidFill>
            <a:srgbClr val="FFFFFF"/>
          </a:solidFill>
          <a:ln w="1397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EduEarth Team Project Title"/>
          <p:cNvSpPr txBox="1"/>
          <p:nvPr/>
        </p:nvSpPr>
        <p:spPr>
          <a:xfrm>
            <a:off x="640080" y="5410200"/>
            <a:ext cx="6390000" cy="2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0E2D27"/>
                </a:solidFill>
                <a:latin typeface="Aptos"/>
              </a:rPr>
              <a:t>Project Title: EduEarth - Gamified Environmental Education Platform</a:t>
            </a:r>
          </a:p>
        </p:txBody>
      </p:sp>
      <p:sp>
        <p:nvSpPr>
          <p:cNvPr id="38" name="EduEarth Team Heading"/>
          <p:cNvSpPr txBox="1"/>
          <p:nvPr/>
        </p:nvSpPr>
        <p:spPr>
          <a:xfrm>
            <a:off x="7680960" y="5410200"/>
            <a:ext cx="3474720" cy="2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0D7E52"/>
                </a:solidFill>
                <a:latin typeface="Aptos"/>
              </a:rPr>
              <a:t>Project Team</a:t>
            </a:r>
          </a:p>
        </p:txBody>
      </p:sp>
      <p:sp>
        <p:nvSpPr>
          <p:cNvPr id="39" name="EduEarth Team Card 1"/>
          <p:cNvSpPr/>
          <p:nvPr/>
        </p:nvSpPr>
        <p:spPr>
          <a:xfrm>
            <a:off x="640080" y="5702808"/>
            <a:ext cx="2575560" cy="319944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EduEarth Team Member 1"/>
          <p:cNvSpPr txBox="1"/>
          <p:nvPr/>
        </p:nvSpPr>
        <p:spPr>
          <a:xfrm>
            <a:off x="1626493" y="5669674"/>
            <a:ext cx="602729" cy="361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0D7E52"/>
                </a:solidFill>
                <a:latin typeface="Aptos"/>
              </a:rPr>
              <a:t>Gourav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26544C"/>
                </a:solidFill>
                <a:latin typeface="Aptos"/>
              </a:rPr>
              <a:t>12203224</a:t>
            </a:r>
          </a:p>
        </p:txBody>
      </p:sp>
      <p:sp>
        <p:nvSpPr>
          <p:cNvPr id="41" name="EduEarth Team Card 2"/>
          <p:cNvSpPr/>
          <p:nvPr/>
        </p:nvSpPr>
        <p:spPr>
          <a:xfrm>
            <a:off x="3386328" y="5702808"/>
            <a:ext cx="2575560" cy="319944"/>
          </a:xfrm>
          <a:prstGeom prst="roundRect">
            <a:avLst/>
          </a:prstGeom>
          <a:solidFill>
            <a:srgbClr val="E0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EduEarth Team Member 2"/>
          <p:cNvSpPr txBox="1"/>
          <p:nvPr/>
        </p:nvSpPr>
        <p:spPr>
          <a:xfrm>
            <a:off x="4245080" y="5687962"/>
            <a:ext cx="858055" cy="361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0" b="1" dirty="0">
                <a:solidFill>
                  <a:srgbClr val="087A76"/>
                </a:solidFill>
                <a:latin typeface="Aptos"/>
              </a:rPr>
              <a:t>T R Swayam</a:t>
            </a:r>
            <a:endParaRPr sz="1250" b="1" dirty="0">
              <a:solidFill>
                <a:srgbClr val="087A76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/>
              <a:t>12218740</a:t>
            </a:r>
            <a:endParaRPr sz="1100" b="0" dirty="0">
              <a:solidFill>
                <a:srgbClr val="26544C"/>
              </a:solidFill>
              <a:latin typeface="Aptos"/>
            </a:endParaRPr>
          </a:p>
        </p:txBody>
      </p:sp>
      <p:sp>
        <p:nvSpPr>
          <p:cNvPr id="43" name="EduEarth Team Card 3"/>
          <p:cNvSpPr/>
          <p:nvPr/>
        </p:nvSpPr>
        <p:spPr>
          <a:xfrm>
            <a:off x="6132576" y="5702808"/>
            <a:ext cx="2575560" cy="319944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EduEarth Team Member 3"/>
          <p:cNvSpPr txBox="1"/>
          <p:nvPr/>
        </p:nvSpPr>
        <p:spPr>
          <a:xfrm>
            <a:off x="6809453" y="5678818"/>
            <a:ext cx="1221808" cy="361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0" b="1" dirty="0">
                <a:solidFill>
                  <a:srgbClr val="0D7E52"/>
                </a:solidFill>
                <a:latin typeface="Aptos"/>
              </a:rPr>
              <a:t>Kuldeep Gautam</a:t>
            </a:r>
            <a:endParaRPr sz="1250" b="1" dirty="0">
              <a:solidFill>
                <a:srgbClr val="0D7E52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/>
              <a:t>12213805</a:t>
            </a:r>
            <a:endParaRPr sz="1100" b="0" dirty="0">
              <a:solidFill>
                <a:srgbClr val="26544C"/>
              </a:solidFill>
              <a:latin typeface="Aptos"/>
            </a:endParaRPr>
          </a:p>
        </p:txBody>
      </p:sp>
      <p:sp>
        <p:nvSpPr>
          <p:cNvPr id="45" name="EduEarth Team Card 4"/>
          <p:cNvSpPr/>
          <p:nvPr/>
        </p:nvSpPr>
        <p:spPr>
          <a:xfrm>
            <a:off x="8878824" y="5702808"/>
            <a:ext cx="2575560" cy="319944"/>
          </a:xfrm>
          <a:prstGeom prst="roundRect">
            <a:avLst/>
          </a:prstGeom>
          <a:solidFill>
            <a:srgbClr val="E0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EduEarth Team Member 4"/>
          <p:cNvSpPr txBox="1"/>
          <p:nvPr/>
        </p:nvSpPr>
        <p:spPr>
          <a:xfrm>
            <a:off x="9563490" y="5678818"/>
            <a:ext cx="1206228" cy="361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0" b="1" dirty="0">
                <a:solidFill>
                  <a:srgbClr val="087A76"/>
                </a:solidFill>
                <a:latin typeface="Aptos"/>
              </a:rPr>
              <a:t>Devansh </a:t>
            </a:r>
            <a:r>
              <a:rPr lang="en-US" sz="1250" b="1" dirty="0" err="1">
                <a:solidFill>
                  <a:srgbClr val="087A76"/>
                </a:solidFill>
                <a:latin typeface="Aptos"/>
              </a:rPr>
              <a:t>Baliyan</a:t>
            </a:r>
            <a:endParaRPr sz="1250" b="1" dirty="0">
              <a:solidFill>
                <a:srgbClr val="087A76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/>
              <a:t>12207844</a:t>
            </a:r>
            <a:endParaRPr sz="1100" b="0" dirty="0">
              <a:solidFill>
                <a:srgbClr val="26544C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EduEarth Theme Background - story" descr="eduearth_bg_sto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2680" y="658368"/>
            <a:ext cx="10058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658368"/>
            <a:ext cx="411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6080760"/>
            <a:ext cx="640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89888" y="6080760"/>
            <a:ext cx="109728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75720" y="1344168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75720" y="1545336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1746504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5720" y="1947672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>
                <a:solidFill>
                  <a:srgbClr val="41645C"/>
                </a:solidFill>
                <a:latin typeface="Calibri"/>
              </a:rPr>
              <a:t>EduEarth |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120" b="1">
                <a:solidFill>
                  <a:srgbClr val="41645C"/>
                </a:solidFill>
                <a:latin typeface="Calibri"/>
              </a:rPr>
              <a:t>Problem &amp;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2011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120" b="1">
                <a:solidFill>
                  <a:srgbClr val="41645C"/>
                </a:solidFill>
                <a:latin typeface="Courier New"/>
              </a:rPr>
              <a:t>02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"/>
            <a:ext cx="73152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566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" y="566928"/>
            <a:ext cx="7315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713232"/>
            <a:ext cx="66751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>
                <a:solidFill>
                  <a:srgbClr val="102A26"/>
                </a:solidFill>
                <a:latin typeface="Calibri"/>
              </a:rPr>
              <a:t>Problem Statement &amp; Proposed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1170432"/>
            <a:ext cx="7406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0">
                <a:solidFill>
                  <a:srgbClr val="41645C"/>
                </a:solidFill>
                <a:latin typeface="Calibri"/>
              </a:rPr>
              <a:t>Moving environmental education from passive awareness to measurable action.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664208"/>
            <a:ext cx="5138928" cy="4069080"/>
          </a:xfrm>
          <a:prstGeom prst="roundRect">
            <a:avLst/>
          </a:prstGeom>
          <a:solidFill>
            <a:srgbClr val="FFF3D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55080" y="1664208"/>
            <a:ext cx="5138928" cy="4069080"/>
          </a:xfrm>
          <a:prstGeom prst="roundRect">
            <a:avLst/>
          </a:prstGeom>
          <a:solidFill>
            <a:srgbClr val="DFF5E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190195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340" b="1">
                <a:solidFill>
                  <a:srgbClr val="B45309"/>
                </a:solidFill>
                <a:latin typeface="Courier New"/>
              </a:rPr>
              <a:t>THE PROBLEM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" y="2331720"/>
            <a:ext cx="4407408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9736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B45309"/>
                </a:solidFill>
                <a:latin typeface="Courier New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76756" y="2340864"/>
            <a:ext cx="3694176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 dirty="0">
                <a:solidFill>
                  <a:srgbClr val="102A26"/>
                </a:solidFill>
                <a:latin typeface="Calibri"/>
              </a:rPr>
              <a:t>LOW 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6" y="2496313"/>
            <a:ext cx="3694176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 dirty="0">
                <a:solidFill>
                  <a:srgbClr val="41645C"/>
                </a:solidFill>
                <a:latin typeface="Calibri"/>
              </a:rPr>
              <a:t>Environmental learning is often passive and hard to connect with daily behavior.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" y="3044952"/>
            <a:ext cx="4407408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317296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B45309"/>
                </a:solidFill>
                <a:latin typeface="Courier New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0472" y="2994660"/>
            <a:ext cx="3694176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 dirty="0">
                <a:solidFill>
                  <a:srgbClr val="102A26"/>
                </a:solidFill>
                <a:latin typeface="Calibri"/>
              </a:rPr>
              <a:t>WEAK ACTION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9616" y="3246120"/>
            <a:ext cx="3694176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 dirty="0">
                <a:solidFill>
                  <a:srgbClr val="41645C"/>
                </a:solidFill>
                <a:latin typeface="Calibri"/>
              </a:rPr>
              <a:t>Students need feedback, missions and motivation beyond static lessons.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3758183"/>
            <a:ext cx="4407408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" y="3886199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B45309"/>
                </a:solidFill>
                <a:latin typeface="Courier New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6756" y="3726180"/>
            <a:ext cx="3694176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 dirty="0">
                <a:solidFill>
                  <a:srgbClr val="102A26"/>
                </a:solidFill>
                <a:latin typeface="Calibri"/>
              </a:rPr>
              <a:t>LIMITED VISIBILITY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0472" y="3968495"/>
            <a:ext cx="3694176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 dirty="0">
                <a:solidFill>
                  <a:srgbClr val="41645C"/>
                </a:solidFill>
                <a:latin typeface="Calibri"/>
              </a:rPr>
              <a:t>Teachers need visibility into progress, participation and class performance.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" y="4471416"/>
            <a:ext cx="4407408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69848" y="4599431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B45309"/>
                </a:solidFill>
                <a:latin typeface="Courier New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99616" y="4517135"/>
            <a:ext cx="3694176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 dirty="0">
                <a:solidFill>
                  <a:srgbClr val="102A26"/>
                </a:solidFill>
                <a:latin typeface="Calibri"/>
              </a:rPr>
              <a:t>RAW INFORMATION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99616" y="4718303"/>
            <a:ext cx="3694176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 dirty="0">
                <a:solidFill>
                  <a:srgbClr val="41645C"/>
                </a:solidFill>
                <a:latin typeface="Calibri"/>
              </a:rPr>
              <a:t>Current climate news is useful, but rarely converted into classroom-ready material.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190195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340" b="1">
                <a:solidFill>
                  <a:srgbClr val="116A46"/>
                </a:solidFill>
                <a:latin typeface="Courier New"/>
              </a:rPr>
              <a:t>PROPOSED SOLUTION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01968" y="2331720"/>
            <a:ext cx="4407408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39128" y="2459736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11845B"/>
                </a:solidFill>
                <a:latin typeface="Courier New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68896" y="2340863"/>
            <a:ext cx="3694176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 dirty="0">
                <a:solidFill>
                  <a:srgbClr val="102A26"/>
                </a:solidFill>
                <a:latin typeface="Calibri"/>
              </a:rPr>
              <a:t>GAMIFIED 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68896" y="2578609"/>
            <a:ext cx="3694176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 dirty="0">
                <a:solidFill>
                  <a:srgbClr val="41645C"/>
                </a:solidFill>
                <a:latin typeface="Calibri"/>
              </a:rPr>
              <a:t>Modules, quizzes, missions, badges, streaks and eco-points.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01968" y="3044952"/>
            <a:ext cx="4407408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39128" y="317296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11845B"/>
                </a:solidFill>
                <a:latin typeface="Courier New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68896" y="3063240"/>
            <a:ext cx="3694176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 dirty="0">
                <a:solidFill>
                  <a:srgbClr val="102A26"/>
                </a:solidFill>
                <a:latin typeface="Calibri"/>
              </a:rPr>
              <a:t>ROLE-AWARE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8896" y="3273552"/>
            <a:ext cx="3694176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 dirty="0">
                <a:solidFill>
                  <a:srgbClr val="41645C"/>
                </a:solidFill>
                <a:latin typeface="Calibri"/>
              </a:rPr>
              <a:t>Separate student and teacher journeys with automatic routing.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01968" y="3758183"/>
            <a:ext cx="4407408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39128" y="3886199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11845B"/>
                </a:solidFill>
                <a:latin typeface="Courier New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68896" y="3877055"/>
            <a:ext cx="3694176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 dirty="0">
                <a:solidFill>
                  <a:srgbClr val="102A26"/>
                </a:solidFill>
                <a:latin typeface="Calibri"/>
              </a:rPr>
              <a:t>REALTIME GAME LAYER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68896" y="4096511"/>
            <a:ext cx="3694176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Socket.io powered quiz races and multiplayer learning moments.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01968" y="4471416"/>
            <a:ext cx="4407408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739128" y="4599431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11845B"/>
                </a:solidFill>
                <a:latin typeface="Courier New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4480559"/>
            <a:ext cx="3694176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 dirty="0">
                <a:solidFill>
                  <a:srgbClr val="102A26"/>
                </a:solidFill>
                <a:latin typeface="Calibri"/>
              </a:rPr>
              <a:t>DATA-ENRICHED ARTICLES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68896" y="4700016"/>
            <a:ext cx="3694176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 dirty="0">
                <a:solidFill>
                  <a:srgbClr val="41645C"/>
                </a:solidFill>
                <a:latin typeface="Calibri"/>
              </a:rPr>
              <a:t>Airflow ingestion turns RSS and climate data into curriculum-aligned content.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6437376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EduEarth Theme Background - story" descr="eduearth_bg_sto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2680" y="658368"/>
            <a:ext cx="10058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658368"/>
            <a:ext cx="411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6080760"/>
            <a:ext cx="640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89888" y="6080760"/>
            <a:ext cx="109728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75720" y="1344168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75720" y="1545336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1746504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5720" y="1947672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>
                <a:solidFill>
                  <a:srgbClr val="41645C"/>
                </a:solidFill>
                <a:latin typeface="Calibri"/>
              </a:rPr>
              <a:t>EduEarth |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120" b="1">
                <a:solidFill>
                  <a:srgbClr val="41645C"/>
                </a:solidFill>
                <a:latin typeface="Calibri"/>
              </a:rP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2011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120" b="1">
                <a:solidFill>
                  <a:srgbClr val="41645C"/>
                </a:solidFill>
                <a:latin typeface="Courier New"/>
              </a:rPr>
              <a:t>03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"/>
            <a:ext cx="73152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566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" y="566928"/>
            <a:ext cx="7315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566928"/>
            <a:ext cx="66751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 dirty="0">
                <a:solidFill>
                  <a:srgbClr val="102A26"/>
                </a:solidFill>
                <a:latin typeface="Calibri"/>
              </a:rPr>
              <a:t>A Learning Ecosystem For Environmental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914400"/>
            <a:ext cx="7406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0" dirty="0">
                <a:solidFill>
                  <a:srgbClr val="41645C"/>
                </a:solidFill>
                <a:latin typeface="Calibri"/>
              </a:rPr>
              <a:t>Designed around the people who create, guide and experience sustainable learning.</a:t>
            </a:r>
          </a:p>
        </p:txBody>
      </p:sp>
      <p:pic>
        <p:nvPicPr>
          <p:cNvPr id="19" name="Picture 18" descr="2_StudentDashboard.png"/>
          <p:cNvPicPr>
            <a:picLocks noChangeAspect="1"/>
          </p:cNvPicPr>
          <p:nvPr/>
        </p:nvPicPr>
        <p:blipFill>
          <a:blip r:embed="rId4"/>
          <a:srcRect l="6409" r="6409"/>
          <a:stretch>
            <a:fillRect/>
          </a:stretch>
        </p:blipFill>
        <p:spPr>
          <a:xfrm>
            <a:off x="6748272" y="1417320"/>
            <a:ext cx="4572000" cy="4206240"/>
          </a:xfrm>
          <a:prstGeom prst="rect">
            <a:avLst/>
          </a:prstGeom>
          <a:ln>
            <a:solidFill/>
          </a:ln>
        </p:spPr>
      </p:pic>
      <p:sp>
        <p:nvSpPr>
          <p:cNvPr id="20" name="Rectangle 19"/>
          <p:cNvSpPr/>
          <p:nvPr/>
        </p:nvSpPr>
        <p:spPr>
          <a:xfrm>
            <a:off x="6748272" y="1417320"/>
            <a:ext cx="4572000" cy="42062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3232" y="1572768"/>
            <a:ext cx="2578608" cy="107899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17556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2300" b="1">
                <a:solidFill>
                  <a:srgbClr val="11845B"/>
                </a:solidFill>
                <a:latin typeface="Courier New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1737360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70" b="1">
                <a:solidFill>
                  <a:srgbClr val="102A26"/>
                </a:solidFill>
                <a:latin typeface="Courier New"/>
              </a:rPr>
              <a:t>STUDENTS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011680"/>
            <a:ext cx="171907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50" b="0">
                <a:solidFill>
                  <a:srgbClr val="41645C"/>
                </a:solidFill>
                <a:latin typeface="Calibri"/>
              </a:rPr>
              <a:t>Explore modules, play games, complete missions and earn eco-points.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93591" y="1572768"/>
            <a:ext cx="2578608" cy="107899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58183" y="17556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2300" b="1">
                <a:solidFill>
                  <a:srgbClr val="2563EB"/>
                </a:solidFill>
                <a:latin typeface="Courier New"/>
              </a:rPr>
              <a:t>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1737360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70" b="1">
                <a:solidFill>
                  <a:srgbClr val="102A26"/>
                </a:solidFill>
                <a:latin typeface="Courier New"/>
              </a:rPr>
              <a:t>TEACHERS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59" y="2011680"/>
            <a:ext cx="171907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50" b="0">
                <a:solidFill>
                  <a:srgbClr val="41645C"/>
                </a:solidFill>
                <a:latin typeface="Calibri"/>
              </a:rPr>
              <a:t>Monitor classes, review progress and guide assignments.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2990088"/>
            <a:ext cx="2578608" cy="107899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" y="31729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2300" b="1">
                <a:solidFill>
                  <a:srgbClr val="6D28D9"/>
                </a:solidFill>
                <a:latin typeface="Courier New"/>
              </a:rPr>
              <a:t>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154680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70" b="1">
                <a:solidFill>
                  <a:srgbClr val="102A26"/>
                </a:solidFill>
                <a:latin typeface="Courier New"/>
              </a:rPr>
              <a:t>INSTITUTIONS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429000"/>
            <a:ext cx="171907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50" b="0">
                <a:solidFill>
                  <a:srgbClr val="41645C"/>
                </a:solidFill>
                <a:latin typeface="Calibri"/>
              </a:rPr>
              <a:t>Manage classes, teachers, students and leaderboards.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93591" y="2990088"/>
            <a:ext cx="2578608" cy="107899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58183" y="31729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2300" b="1">
                <a:solidFill>
                  <a:srgbClr val="B45309"/>
                </a:solidFill>
                <a:latin typeface="Courier New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59" y="3154680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70" b="1">
                <a:solidFill>
                  <a:srgbClr val="102A26"/>
                </a:solidFill>
                <a:latin typeface="Courier New"/>
              </a:rPr>
              <a:t>CONTENT 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59" y="3429000"/>
            <a:ext cx="171907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50" b="0">
                <a:solidFill>
                  <a:srgbClr val="41645C"/>
                </a:solidFill>
                <a:latin typeface="Calibri"/>
              </a:rPr>
              <a:t>Articles and climate signals refresh learning material over time.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6817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102A26"/>
                </a:solidFill>
                <a:latin typeface="Calibri"/>
              </a:rPr>
              <a:t>Core product loop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5138928"/>
            <a:ext cx="932688" cy="45720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59" y="5175504"/>
            <a:ext cx="786384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LEARN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764792" y="5285232"/>
            <a:ext cx="256032" cy="109728"/>
          </a:xfrm>
          <a:prstGeom prst="rightArrow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103120" y="5138928"/>
            <a:ext cx="932688" cy="45720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76272" y="5175504"/>
            <a:ext cx="786384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PLAY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3118104" y="5285232"/>
            <a:ext cx="256032" cy="10972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456432" y="5138928"/>
            <a:ext cx="932688" cy="45720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529584" y="5175504"/>
            <a:ext cx="786384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ACT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471416" y="5285232"/>
            <a:ext cx="256032" cy="109728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809744" y="5138928"/>
            <a:ext cx="932688" cy="45720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82896" y="5175504"/>
            <a:ext cx="786384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TRACK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437376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EduEarth Theme Background - product" descr="eduearth_bg_produc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2680" y="658368"/>
            <a:ext cx="10058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658368"/>
            <a:ext cx="411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6080760"/>
            <a:ext cx="640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89888" y="6080760"/>
            <a:ext cx="109728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75720" y="1344168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75720" y="1545336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1746504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5720" y="1947672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>
                <a:solidFill>
                  <a:srgbClr val="41645C"/>
                </a:solidFill>
                <a:latin typeface="Calibri"/>
              </a:rPr>
              <a:t>EduEarth |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120" b="1">
                <a:solidFill>
                  <a:srgbClr val="41645C"/>
                </a:solidFill>
                <a:latin typeface="Calibri"/>
              </a:rPr>
              <a:t>Product Snapshot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2011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120" b="1">
                <a:solidFill>
                  <a:srgbClr val="41645C"/>
                </a:solidFill>
                <a:latin typeface="Courier New"/>
              </a:rPr>
              <a:t>04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"/>
            <a:ext cx="73152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566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" y="566928"/>
            <a:ext cx="7315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74980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900" b="1">
                <a:solidFill>
                  <a:srgbClr val="102A26"/>
                </a:solidFill>
                <a:latin typeface="Calibri"/>
              </a:rPr>
              <a:t>Product Experience Snapshot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117043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340" b="0">
                <a:solidFill>
                  <a:srgbClr val="41645C"/>
                </a:solidFill>
                <a:latin typeface="Calibri"/>
              </a:rPr>
              <a:t>Screens captured from the implemented EduEarth app.</a:t>
            </a:r>
          </a:p>
        </p:txBody>
      </p:sp>
      <p:pic>
        <p:nvPicPr>
          <p:cNvPr id="19" name="Picture 18" descr="1_home.png"/>
          <p:cNvPicPr>
            <a:picLocks noChangeAspect="1"/>
          </p:cNvPicPr>
          <p:nvPr/>
        </p:nvPicPr>
        <p:blipFill>
          <a:blip r:embed="rId4"/>
          <a:srcRect t="3137" b="3137"/>
          <a:stretch>
            <a:fillRect/>
          </a:stretch>
        </p:blipFill>
        <p:spPr>
          <a:xfrm>
            <a:off x="713232" y="1572768"/>
            <a:ext cx="4800600" cy="2148840"/>
          </a:xfrm>
          <a:prstGeom prst="rect">
            <a:avLst/>
          </a:prstGeom>
          <a:ln>
            <a:solidFill/>
          </a:ln>
        </p:spPr>
      </p:pic>
      <p:sp>
        <p:nvSpPr>
          <p:cNvPr id="20" name="Rectangle 19"/>
          <p:cNvSpPr/>
          <p:nvPr/>
        </p:nvSpPr>
        <p:spPr>
          <a:xfrm>
            <a:off x="713232" y="1572768"/>
            <a:ext cx="4800600" cy="21488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" y="1682495"/>
            <a:ext cx="960120" cy="25603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1700784"/>
            <a:ext cx="813816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980" b="1">
                <a:solidFill>
                  <a:srgbClr val="102A26"/>
                </a:solidFill>
                <a:latin typeface="Calibri"/>
              </a:rPr>
              <a:t>HOME</a:t>
            </a:r>
          </a:p>
        </p:txBody>
      </p:sp>
      <p:pic>
        <p:nvPicPr>
          <p:cNvPr id="23" name="Picture 22" descr="3_TeacherDashboard.png"/>
          <p:cNvPicPr>
            <a:picLocks noChangeAspect="1"/>
          </p:cNvPicPr>
          <p:nvPr/>
        </p:nvPicPr>
        <p:blipFill>
          <a:blip r:embed="rId5"/>
          <a:srcRect l="11436" r="11436"/>
          <a:stretch>
            <a:fillRect/>
          </a:stretch>
        </p:blipFill>
        <p:spPr>
          <a:xfrm>
            <a:off x="5760720" y="1572768"/>
            <a:ext cx="2651760" cy="2148840"/>
          </a:xfrm>
          <a:prstGeom prst="rect">
            <a:avLst/>
          </a:prstGeom>
          <a:ln>
            <a:solidFill/>
          </a:ln>
        </p:spPr>
      </p:pic>
      <p:sp>
        <p:nvSpPr>
          <p:cNvPr id="24" name="Rectangle 23"/>
          <p:cNvSpPr/>
          <p:nvPr/>
        </p:nvSpPr>
        <p:spPr>
          <a:xfrm>
            <a:off x="5760720" y="1572768"/>
            <a:ext cx="2651760" cy="21488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870448" y="1682495"/>
            <a:ext cx="960120" cy="25603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0" y="1700784"/>
            <a:ext cx="813816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980" b="1">
                <a:solidFill>
                  <a:srgbClr val="102A26"/>
                </a:solidFill>
                <a:latin typeface="Calibri"/>
              </a:rPr>
              <a:t>TEACHER</a:t>
            </a:r>
          </a:p>
        </p:txBody>
      </p:sp>
      <p:pic>
        <p:nvPicPr>
          <p:cNvPr id="27" name="Picture 26" descr="5_Games.png"/>
          <p:cNvPicPr>
            <a:picLocks noChangeAspect="1"/>
          </p:cNvPicPr>
          <p:nvPr/>
        </p:nvPicPr>
        <p:blipFill>
          <a:blip r:embed="rId6"/>
          <a:srcRect l="9294" r="9294"/>
          <a:stretch>
            <a:fillRect/>
          </a:stretch>
        </p:blipFill>
        <p:spPr>
          <a:xfrm>
            <a:off x="8641080" y="1572768"/>
            <a:ext cx="2651760" cy="2148840"/>
          </a:xfrm>
          <a:prstGeom prst="rect">
            <a:avLst/>
          </a:prstGeom>
          <a:ln>
            <a:solidFill/>
          </a:ln>
        </p:spPr>
      </p:pic>
      <p:sp>
        <p:nvSpPr>
          <p:cNvPr id="28" name="Rectangle 27"/>
          <p:cNvSpPr/>
          <p:nvPr/>
        </p:nvSpPr>
        <p:spPr>
          <a:xfrm>
            <a:off x="8641080" y="1572768"/>
            <a:ext cx="2651760" cy="21488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750807" y="1682495"/>
            <a:ext cx="960120" cy="25603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59" y="1700784"/>
            <a:ext cx="813816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980" b="1">
                <a:solidFill>
                  <a:srgbClr val="102A26"/>
                </a:solidFill>
                <a:latin typeface="Calibri"/>
              </a:rPr>
              <a:t>GAMES</a:t>
            </a:r>
          </a:p>
        </p:txBody>
      </p:sp>
      <p:pic>
        <p:nvPicPr>
          <p:cNvPr id="31" name="Picture 30" descr="4_Articles.png"/>
          <p:cNvPicPr>
            <a:picLocks noChangeAspect="1"/>
          </p:cNvPicPr>
          <p:nvPr/>
        </p:nvPicPr>
        <p:blipFill>
          <a:blip r:embed="rId7"/>
          <a:srcRect l="4591" r="4591"/>
          <a:stretch>
            <a:fillRect/>
          </a:stretch>
        </p:blipFill>
        <p:spPr>
          <a:xfrm>
            <a:off x="713232" y="3977639"/>
            <a:ext cx="3246120" cy="1700784"/>
          </a:xfrm>
          <a:prstGeom prst="rect">
            <a:avLst/>
          </a:prstGeom>
          <a:ln>
            <a:solidFill/>
          </a:ln>
        </p:spPr>
      </p:pic>
      <p:sp>
        <p:nvSpPr>
          <p:cNvPr id="32" name="Rectangle 31"/>
          <p:cNvSpPr/>
          <p:nvPr/>
        </p:nvSpPr>
        <p:spPr>
          <a:xfrm>
            <a:off x="713232" y="3977639"/>
            <a:ext cx="3246120" cy="1700784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2960" y="4087368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4105655"/>
            <a:ext cx="1225296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980" b="1">
                <a:solidFill>
                  <a:srgbClr val="102A26"/>
                </a:solidFill>
                <a:latin typeface="Calibri"/>
              </a:rPr>
              <a:t>ARTICLES</a:t>
            </a:r>
          </a:p>
        </p:txBody>
      </p:sp>
      <p:pic>
        <p:nvPicPr>
          <p:cNvPr id="35" name="Picture 34" descr="6_Modules.png"/>
          <p:cNvPicPr>
            <a:picLocks noChangeAspect="1"/>
          </p:cNvPicPr>
          <p:nvPr/>
        </p:nvPicPr>
        <p:blipFill>
          <a:blip r:embed="rId8"/>
          <a:srcRect l="4750" r="4750"/>
          <a:stretch>
            <a:fillRect/>
          </a:stretch>
        </p:blipFill>
        <p:spPr>
          <a:xfrm>
            <a:off x="4187952" y="3977639"/>
            <a:ext cx="3246120" cy="1700784"/>
          </a:xfrm>
          <a:prstGeom prst="rect">
            <a:avLst/>
          </a:prstGeom>
          <a:ln>
            <a:solidFill/>
          </a:ln>
        </p:spPr>
      </p:pic>
      <p:sp>
        <p:nvSpPr>
          <p:cNvPr id="36" name="Rectangle 35"/>
          <p:cNvSpPr/>
          <p:nvPr/>
        </p:nvSpPr>
        <p:spPr>
          <a:xfrm>
            <a:off x="4187952" y="3977639"/>
            <a:ext cx="3246120" cy="1700784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297680" y="4087368"/>
            <a:ext cx="960120" cy="25603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70832" y="4105655"/>
            <a:ext cx="813816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980" b="1">
                <a:solidFill>
                  <a:srgbClr val="102A26"/>
                </a:solidFill>
                <a:latin typeface="Calibri"/>
              </a:rPr>
              <a:t>MODULES</a:t>
            </a:r>
          </a:p>
        </p:txBody>
      </p:sp>
      <p:pic>
        <p:nvPicPr>
          <p:cNvPr id="39" name="Picture 38" descr="11_Game_RecycleRush.png"/>
          <p:cNvPicPr>
            <a:picLocks noChangeAspect="1"/>
          </p:cNvPicPr>
          <p:nvPr/>
        </p:nvPicPr>
        <p:blipFill>
          <a:blip r:embed="rId9"/>
          <a:srcRect t="12329" b="12329"/>
          <a:stretch>
            <a:fillRect/>
          </a:stretch>
        </p:blipFill>
        <p:spPr>
          <a:xfrm>
            <a:off x="7662672" y="3977639"/>
            <a:ext cx="3611880" cy="1700784"/>
          </a:xfrm>
          <a:prstGeom prst="rect">
            <a:avLst/>
          </a:prstGeom>
          <a:ln>
            <a:solidFill/>
          </a:ln>
        </p:spPr>
      </p:pic>
      <p:sp>
        <p:nvSpPr>
          <p:cNvPr id="40" name="Rectangle 39"/>
          <p:cNvSpPr/>
          <p:nvPr/>
        </p:nvSpPr>
        <p:spPr>
          <a:xfrm>
            <a:off x="7662672" y="3977639"/>
            <a:ext cx="3611880" cy="1700784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772400" y="4087368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45552" y="4105655"/>
            <a:ext cx="1225296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980" b="1">
                <a:solidFill>
                  <a:srgbClr val="102A26"/>
                </a:solidFill>
                <a:latin typeface="Calibri"/>
              </a:rPr>
              <a:t>RECYCLE RUSH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437376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EduEarth Theme Background - product" descr="eduearth_bg_produc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2680" y="658368"/>
            <a:ext cx="10058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658368"/>
            <a:ext cx="411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6080760"/>
            <a:ext cx="640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89888" y="6080760"/>
            <a:ext cx="109728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75720" y="1344168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75720" y="1545336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1746504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5720" y="1947672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>
                <a:solidFill>
                  <a:srgbClr val="41645C"/>
                </a:solidFill>
                <a:latin typeface="Calibri"/>
              </a:rPr>
              <a:t>EduEarth |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120" b="1">
                <a:solidFill>
                  <a:srgbClr val="41645C"/>
                </a:solidFill>
                <a:latin typeface="Calibri"/>
              </a:rPr>
              <a:t>UI/UX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2011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120" b="1">
                <a:solidFill>
                  <a:srgbClr val="41645C"/>
                </a:solidFill>
                <a:latin typeface="Courier New"/>
              </a:rPr>
              <a:t>05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"/>
            <a:ext cx="73152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566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" y="566928"/>
            <a:ext cx="7315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713232"/>
            <a:ext cx="66751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>
                <a:solidFill>
                  <a:srgbClr val="102A26"/>
                </a:solidFill>
                <a:latin typeface="Calibri"/>
              </a:rPr>
              <a:t>User Journey &amp; Navigation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1170432"/>
            <a:ext cx="7406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0">
                <a:solidFill>
                  <a:srgbClr val="41645C"/>
                </a:solidFill>
                <a:latin typeface="Calibri"/>
              </a:rPr>
              <a:t>From sign-in to action: the app keeps the learner path short and role-aware.</a:t>
            </a:r>
          </a:p>
        </p:txBody>
      </p:sp>
      <p:pic>
        <p:nvPicPr>
          <p:cNvPr id="19" name="Picture 18" descr="flow_authent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00748"/>
            <a:ext cx="4937760" cy="2742102"/>
          </a:xfrm>
          <a:prstGeom prst="rect">
            <a:avLst/>
          </a:prstGeom>
          <a:ln>
            <a:solidFill/>
          </a:ln>
        </p:spPr>
      </p:pic>
      <p:sp>
        <p:nvSpPr>
          <p:cNvPr id="20" name="Rectangle 19"/>
          <p:cNvSpPr/>
          <p:nvPr/>
        </p:nvSpPr>
        <p:spPr>
          <a:xfrm>
            <a:off x="6400800" y="1600748"/>
            <a:ext cx="4937760" cy="2742102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3232" y="1591056"/>
            <a:ext cx="5257800" cy="58521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1719072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11845B"/>
                </a:solidFill>
                <a:latin typeface="Courier New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1645920"/>
            <a:ext cx="454456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 dirty="0">
                <a:solidFill>
                  <a:srgbClr val="102A26"/>
                </a:solidFill>
                <a:latin typeface="Calibri"/>
              </a:rPr>
              <a:t>LANDING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1837944"/>
            <a:ext cx="4544568" cy="82295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 dirty="0">
                <a:solidFill>
                  <a:srgbClr val="41645C"/>
                </a:solidFill>
                <a:latin typeface="Calibri"/>
              </a:rPr>
              <a:t>Brand-led entry point introduces </a:t>
            </a:r>
            <a:r>
              <a:rPr sz="1070" b="0" dirty="0" err="1">
                <a:solidFill>
                  <a:srgbClr val="41645C"/>
                </a:solidFill>
                <a:latin typeface="Calibri"/>
              </a:rPr>
              <a:t>EduEarth</a:t>
            </a:r>
            <a:r>
              <a:rPr sz="1070" b="0" dirty="0">
                <a:solidFill>
                  <a:srgbClr val="41645C"/>
                </a:solidFill>
                <a:latin typeface="Calibri"/>
              </a:rPr>
              <a:t> and routes users toward auth or dashboards.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2340864"/>
            <a:ext cx="5257800" cy="58521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" y="2468880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2563EB"/>
                </a:solidFill>
                <a:latin typeface="Courier New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2414016"/>
            <a:ext cx="454456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 dirty="0">
                <a:solidFill>
                  <a:srgbClr val="102A26"/>
                </a:solidFill>
                <a:latin typeface="Calibri"/>
              </a:rPr>
              <a:t>ROLE 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679192"/>
            <a:ext cx="4544568" cy="82295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 dirty="0">
                <a:solidFill>
                  <a:srgbClr val="41645C"/>
                </a:solidFill>
                <a:latin typeface="Calibri"/>
              </a:rPr>
              <a:t>Auth model supports student and teacher flows with </a:t>
            </a:r>
            <a:r>
              <a:rPr sz="1070" b="0" dirty="0" err="1">
                <a:solidFill>
                  <a:srgbClr val="41645C"/>
                </a:solidFill>
                <a:latin typeface="Calibri"/>
              </a:rPr>
              <a:t>Supabase</a:t>
            </a:r>
            <a:r>
              <a:rPr sz="1070" b="0" dirty="0">
                <a:solidFill>
                  <a:srgbClr val="41645C"/>
                </a:solidFill>
                <a:latin typeface="Calibri"/>
              </a:rPr>
              <a:t> callback handling.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3090672"/>
            <a:ext cx="5257800" cy="58521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" y="321868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6D28D9"/>
                </a:solidFill>
                <a:latin typeface="Courier New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172968"/>
            <a:ext cx="454456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 dirty="0">
                <a:solidFill>
                  <a:srgbClr val="102A26"/>
                </a:solidFill>
                <a:latin typeface="Calibri"/>
              </a:rPr>
              <a:t>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447288"/>
            <a:ext cx="4544568" cy="82295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 dirty="0">
                <a:solidFill>
                  <a:srgbClr val="41645C"/>
                </a:solidFill>
                <a:latin typeface="Calibri"/>
              </a:rPr>
              <a:t>Users land on the right workspace: learning progress or class oversight.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3840480"/>
            <a:ext cx="5257800" cy="58521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2" y="3968496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B45309"/>
                </a:solidFill>
                <a:latin typeface="Courier New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959352"/>
            <a:ext cx="454456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EXPLORE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233672"/>
            <a:ext cx="4544568" cy="82295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Modules, articles and games create multiple ways to engage with the same topic.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4590288"/>
            <a:ext cx="5257800" cy="58521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0392" y="4718303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11845B"/>
                </a:solidFill>
                <a:latin typeface="Courier New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709159"/>
            <a:ext cx="454456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ACTION LOOP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983479"/>
            <a:ext cx="4544568" cy="82295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Missions, assignments, quizzes and badges convert lessons into practice.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52628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Reference flow diagram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809744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70" b="0">
                <a:solidFill>
                  <a:srgbClr val="41645C"/>
                </a:solidFill>
                <a:latin typeface="Calibri"/>
              </a:rPr>
              <a:t>Authentication and automatic routing are backed by client-side Supabase session checks plus server token validation on protected mutations.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437376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EduEarth Theme Background - tech" descr="eduearth_bg_te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2680" y="658368"/>
            <a:ext cx="10058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658368"/>
            <a:ext cx="411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6080760"/>
            <a:ext cx="640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89888" y="6080760"/>
            <a:ext cx="109728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75720" y="1344168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75720" y="1545336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1746504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5720" y="1947672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>
                <a:solidFill>
                  <a:srgbClr val="41645C"/>
                </a:solidFill>
                <a:latin typeface="Calibri"/>
              </a:rPr>
              <a:t>EduEarth |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120" b="1">
                <a:solidFill>
                  <a:srgbClr val="41645C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2011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120" b="1">
                <a:solidFill>
                  <a:srgbClr val="41645C"/>
                </a:solidFill>
                <a:latin typeface="Courier New"/>
              </a:rPr>
              <a:t>06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"/>
            <a:ext cx="73152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566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" y="566928"/>
            <a:ext cx="7315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713232"/>
            <a:ext cx="66751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>
                <a:solidFill>
                  <a:srgbClr val="102A26"/>
                </a:solidFill>
                <a:latin typeface="Calibri"/>
              </a:rPr>
              <a:t>Frontend | Layered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1170432"/>
            <a:ext cx="7406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0">
                <a:solidFill>
                  <a:srgbClr val="41645C"/>
                </a:solidFill>
                <a:latin typeface="Calibri"/>
              </a:rPr>
              <a:t>Next.js app router, reusable components and motion-focused product screens.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1517904"/>
            <a:ext cx="5285232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1673351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70" b="1">
                <a:solidFill>
                  <a:srgbClr val="11845B"/>
                </a:solidFill>
                <a:latin typeface="Courier New"/>
              </a:rPr>
              <a:t>PAGES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4831" y="1645919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39" b="0">
                <a:solidFill>
                  <a:srgbClr val="102A26"/>
                </a:solidFill>
                <a:latin typeface="Calibri"/>
              </a:rPr>
              <a:t>App Router routes: home, auth, dashboards, modules, games, articles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27248" y="2148839"/>
            <a:ext cx="384048" cy="128016"/>
          </a:xfrm>
          <a:prstGeom prst="rightArrow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86384" y="2322576"/>
            <a:ext cx="5285232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2478024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70" b="1">
                <a:solidFill>
                  <a:srgbClr val="2563EB"/>
                </a:solidFill>
                <a:latin typeface="Courier New"/>
              </a:rPr>
              <a:t>COMPONENTS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4831" y="2450592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39" b="0">
                <a:solidFill>
                  <a:srgbClr val="102A26"/>
                </a:solidFill>
                <a:latin typeface="Calibri"/>
              </a:rPr>
              <a:t>Navbar, hero, dashboards, cards, game UIs, auth provider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127248" y="2953512"/>
            <a:ext cx="384048" cy="12801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86384" y="3127248"/>
            <a:ext cx="5285232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2" y="3282696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70" b="1">
                <a:solidFill>
                  <a:srgbClr val="6D28D9"/>
                </a:solidFill>
                <a:latin typeface="Courier New"/>
              </a:rPr>
              <a:t>CLIENT LIB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4831" y="3255264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39" b="0">
                <a:solidFill>
                  <a:srgbClr val="102A26"/>
                </a:solidFill>
                <a:latin typeface="Calibri"/>
              </a:rPr>
              <a:t>API wrapper, Supabase browser client, typed module data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127248" y="3758183"/>
            <a:ext cx="384048" cy="128016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86384" y="3931920"/>
            <a:ext cx="5285232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" y="4087368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70" b="1">
                <a:solidFill>
                  <a:srgbClr val="B45309"/>
                </a:solidFill>
                <a:latin typeface="Courier New"/>
              </a:rPr>
              <a:t>VISUAL ASSETS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4059935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39" b="0">
                <a:solidFill>
                  <a:srgbClr val="102A26"/>
                </a:solidFill>
                <a:latin typeface="Calibri"/>
              </a:rPr>
              <a:t>Screenshots, game sprites, logos, backgrounds and icons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1572768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02552" y="1728216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Next.js 15</a:t>
            </a:r>
          </a:p>
        </p:txBody>
      </p:sp>
      <p:sp>
        <p:nvSpPr>
          <p:cNvPr id="36" name="Oval 35"/>
          <p:cNvSpPr/>
          <p:nvPr/>
        </p:nvSpPr>
        <p:spPr>
          <a:xfrm>
            <a:off x="8257032" y="1746504"/>
            <a:ext cx="146304" cy="146304"/>
          </a:xfrm>
          <a:prstGeom prst="ellipse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869680" y="1572768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34272" y="1728216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React 19</a:t>
            </a:r>
          </a:p>
        </p:txBody>
      </p:sp>
      <p:sp>
        <p:nvSpPr>
          <p:cNvPr id="39" name="Oval 38"/>
          <p:cNvSpPr/>
          <p:nvPr/>
        </p:nvSpPr>
        <p:spPr>
          <a:xfrm>
            <a:off x="10588751" y="1746504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537960" y="2359152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02552" y="251460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Tailwind CSS 4</a:t>
            </a:r>
          </a:p>
        </p:txBody>
      </p:sp>
      <p:sp>
        <p:nvSpPr>
          <p:cNvPr id="42" name="Oval 41"/>
          <p:cNvSpPr/>
          <p:nvPr/>
        </p:nvSpPr>
        <p:spPr>
          <a:xfrm>
            <a:off x="8257032" y="2532888"/>
            <a:ext cx="146304" cy="14630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869680" y="2359152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34272" y="251460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Framer Motion</a:t>
            </a:r>
          </a:p>
        </p:txBody>
      </p:sp>
      <p:sp>
        <p:nvSpPr>
          <p:cNvPr id="45" name="Oval 44"/>
          <p:cNvSpPr/>
          <p:nvPr/>
        </p:nvSpPr>
        <p:spPr>
          <a:xfrm>
            <a:off x="10588751" y="2532888"/>
            <a:ext cx="146304" cy="146304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537960" y="3145536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02552" y="3300984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Lucide / React Icons</a:t>
            </a:r>
          </a:p>
        </p:txBody>
      </p:sp>
      <p:sp>
        <p:nvSpPr>
          <p:cNvPr id="48" name="Oval 47"/>
          <p:cNvSpPr/>
          <p:nvPr/>
        </p:nvSpPr>
        <p:spPr>
          <a:xfrm>
            <a:off x="8257032" y="3319272"/>
            <a:ext cx="146304" cy="146304"/>
          </a:xfrm>
          <a:prstGeom prst="ellipse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869680" y="3145536"/>
            <a:ext cx="2057400" cy="53035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034272" y="3300984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TypeScript</a:t>
            </a:r>
          </a:p>
        </p:txBody>
      </p:sp>
      <p:sp>
        <p:nvSpPr>
          <p:cNvPr id="51" name="Oval 50"/>
          <p:cNvSpPr/>
          <p:nvPr/>
        </p:nvSpPr>
        <p:spPr>
          <a:xfrm>
            <a:off x="10588751" y="331927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2" name="Picture 51" descr="12_CourseDetail.png"/>
          <p:cNvPicPr>
            <a:picLocks noChangeAspect="1"/>
          </p:cNvPicPr>
          <p:nvPr/>
        </p:nvPicPr>
        <p:blipFill>
          <a:blip r:embed="rId4"/>
          <a:srcRect t="35585" b="35585"/>
          <a:stretch>
            <a:fillRect/>
          </a:stretch>
        </p:blipFill>
        <p:spPr>
          <a:xfrm>
            <a:off x="6537960" y="4160520"/>
            <a:ext cx="4407408" cy="1234440"/>
          </a:xfrm>
          <a:prstGeom prst="rect">
            <a:avLst/>
          </a:prstGeom>
          <a:ln>
            <a:solidFill/>
          </a:ln>
        </p:spPr>
      </p:pic>
      <p:sp>
        <p:nvSpPr>
          <p:cNvPr id="53" name="Rectangle 52"/>
          <p:cNvSpPr/>
          <p:nvPr/>
        </p:nvSpPr>
        <p:spPr>
          <a:xfrm>
            <a:off x="6537960" y="4160520"/>
            <a:ext cx="4407408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47104" y="5532120"/>
            <a:ext cx="42062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89" b="0">
                <a:solidFill>
                  <a:srgbClr val="41645C"/>
                </a:solidFill>
                <a:latin typeface="Calibri"/>
              </a:rPr>
              <a:t>Course detail and module UI reuse the same content model.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6437376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EduEarth Theme Background - tech" descr="eduearth_bg_te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2680" y="658368"/>
            <a:ext cx="10058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658368"/>
            <a:ext cx="411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6080760"/>
            <a:ext cx="640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89888" y="6080760"/>
            <a:ext cx="109728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75720" y="1344168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75720" y="1545336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1746504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5720" y="1947672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>
                <a:solidFill>
                  <a:srgbClr val="41645C"/>
                </a:solidFill>
                <a:latin typeface="Calibri"/>
              </a:rPr>
              <a:t>EduEarth |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120" b="1">
                <a:solidFill>
                  <a:srgbClr val="41645C"/>
                </a:solidFill>
                <a:latin typeface="Calibri"/>
              </a:rPr>
              <a:t>Frontend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2011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120" b="1">
                <a:solidFill>
                  <a:srgbClr val="41645C"/>
                </a:solidFill>
                <a:latin typeface="Courier New"/>
              </a:rPr>
              <a:t>07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"/>
            <a:ext cx="73152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566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" y="566928"/>
            <a:ext cx="7315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713232"/>
            <a:ext cx="66751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>
                <a:solidFill>
                  <a:srgbClr val="102A26"/>
                </a:solidFill>
                <a:latin typeface="Calibri"/>
              </a:rPr>
              <a:t>Frontend | Navigation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1170432"/>
            <a:ext cx="7406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0">
                <a:solidFill>
                  <a:srgbClr val="41645C"/>
                </a:solidFill>
                <a:latin typeface="Calibri"/>
              </a:rPr>
              <a:t>Session-aware routing connects users to the correct product area.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1554480"/>
            <a:ext cx="1143000" cy="50292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1591056"/>
            <a:ext cx="996696" cy="4297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Open App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057400" y="1737360"/>
            <a:ext cx="310896" cy="118872"/>
          </a:xfrm>
          <a:prstGeom prst="rightArrow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487168" y="155448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0" y="1591056"/>
            <a:ext cx="1773936" cy="4297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Check Supabase Session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535424" y="1737360"/>
            <a:ext cx="310896" cy="1188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956048" y="1536192"/>
            <a:ext cx="914400" cy="548640"/>
          </a:xfrm>
          <a:prstGeom prst="roundRect">
            <a:avLst/>
          </a:prstGeom>
          <a:solidFill>
            <a:srgbClr val="DFF5E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0" y="1572768"/>
            <a:ext cx="768096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16A46"/>
                </a:solidFill>
                <a:latin typeface="Calibri"/>
              </a:rPr>
              <a:t>Role?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078992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1115568"/>
            <a:ext cx="1682496" cy="45719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Student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011680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2048256"/>
            <a:ext cx="1682496" cy="45719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Teacher 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87952" y="2889504"/>
            <a:ext cx="1572768" cy="530352"/>
          </a:xfrm>
          <a:prstGeom prst="roundRect">
            <a:avLst/>
          </a:prstGeom>
          <a:solidFill>
            <a:srgbClr val="FFF3D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61104" y="2926080"/>
            <a:ext cx="1426464" cy="45719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B45309"/>
                </a:solidFill>
                <a:latin typeface="Calibri"/>
              </a:rPr>
              <a:t>Auth 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786384"/>
            <a:ext cx="1234440" cy="47548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42832" y="822960"/>
            <a:ext cx="1088136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Modules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1389888"/>
            <a:ext cx="1234440" cy="47548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42832" y="1426464"/>
            <a:ext cx="1088136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Games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1993392"/>
            <a:ext cx="1234440" cy="47548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42832" y="2029968"/>
            <a:ext cx="1088136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Articles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2596896"/>
            <a:ext cx="1234440" cy="47548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42832" y="2633472"/>
            <a:ext cx="1088136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Classes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961888" y="1261872"/>
            <a:ext cx="292608" cy="109728"/>
          </a:xfrm>
          <a:prstGeom prst="rightArrow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ight Arrow 41"/>
          <p:cNvSpPr/>
          <p:nvPr/>
        </p:nvSpPr>
        <p:spPr>
          <a:xfrm>
            <a:off x="5961888" y="2212848"/>
            <a:ext cx="292608" cy="109728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ight Arrow 42"/>
          <p:cNvSpPr/>
          <p:nvPr/>
        </p:nvSpPr>
        <p:spPr>
          <a:xfrm>
            <a:off x="5641848" y="2743200"/>
            <a:ext cx="292608" cy="109728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ight Arrow 43"/>
          <p:cNvSpPr/>
          <p:nvPr/>
        </p:nvSpPr>
        <p:spPr>
          <a:xfrm>
            <a:off x="8357616" y="1234440"/>
            <a:ext cx="292608" cy="109728"/>
          </a:xfrm>
          <a:prstGeom prst="rightArrow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ight Arrow 44"/>
          <p:cNvSpPr/>
          <p:nvPr/>
        </p:nvSpPr>
        <p:spPr>
          <a:xfrm>
            <a:off x="8357616" y="2167128"/>
            <a:ext cx="292608" cy="10972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46" name="Picture 45" descr="2_StudentDashboard.png"/>
          <p:cNvPicPr>
            <a:picLocks noChangeAspect="1"/>
          </p:cNvPicPr>
          <p:nvPr/>
        </p:nvPicPr>
        <p:blipFill>
          <a:blip r:embed="rId4"/>
          <a:srcRect t="21026" b="21026"/>
          <a:stretch>
            <a:fillRect/>
          </a:stretch>
        </p:blipFill>
        <p:spPr>
          <a:xfrm>
            <a:off x="868680" y="3886200"/>
            <a:ext cx="3246120" cy="1508760"/>
          </a:xfrm>
          <a:prstGeom prst="rect">
            <a:avLst/>
          </a:prstGeom>
          <a:ln>
            <a:solidFill/>
          </a:ln>
        </p:spPr>
      </p:pic>
      <p:sp>
        <p:nvSpPr>
          <p:cNvPr id="47" name="Rectangle 46"/>
          <p:cNvSpPr/>
          <p:nvPr/>
        </p:nvSpPr>
        <p:spPr>
          <a:xfrm>
            <a:off x="868680" y="3886200"/>
            <a:ext cx="3246120" cy="150876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87552" y="4005072"/>
            <a:ext cx="786384" cy="228600"/>
          </a:xfrm>
          <a:prstGeom prst="roundRect">
            <a:avLst/>
          </a:prstGeom>
          <a:solidFill>
            <a:srgbClr val="11845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60704" y="4023359"/>
            <a:ext cx="640080" cy="19202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990" b="1">
                <a:solidFill>
                  <a:srgbClr val="102A26"/>
                </a:solidFill>
                <a:latin typeface="Calibri"/>
              </a:rPr>
              <a:t>STUDENT</a:t>
            </a:r>
          </a:p>
        </p:txBody>
      </p:sp>
      <p:pic>
        <p:nvPicPr>
          <p:cNvPr id="50" name="Picture 49" descr="3_TeacherDashboard.png"/>
          <p:cNvPicPr>
            <a:picLocks noChangeAspect="1"/>
          </p:cNvPicPr>
          <p:nvPr/>
        </p:nvPicPr>
        <p:blipFill>
          <a:blip r:embed="rId5"/>
          <a:srcRect t="12817" b="12817"/>
          <a:stretch>
            <a:fillRect/>
          </a:stretch>
        </p:blipFill>
        <p:spPr>
          <a:xfrm>
            <a:off x="4443984" y="3886200"/>
            <a:ext cx="3246120" cy="1508760"/>
          </a:xfrm>
          <a:prstGeom prst="rect">
            <a:avLst/>
          </a:prstGeom>
          <a:ln>
            <a:solidFill/>
          </a:ln>
        </p:spPr>
      </p:pic>
      <p:sp>
        <p:nvSpPr>
          <p:cNvPr id="51" name="Rectangle 50"/>
          <p:cNvSpPr/>
          <p:nvPr/>
        </p:nvSpPr>
        <p:spPr>
          <a:xfrm>
            <a:off x="4443984" y="3886200"/>
            <a:ext cx="3246120" cy="150876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562856" y="4005072"/>
            <a:ext cx="786384" cy="228600"/>
          </a:xfrm>
          <a:prstGeom prst="round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636008" y="4023359"/>
            <a:ext cx="640080" cy="19202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990" b="1">
                <a:solidFill>
                  <a:srgbClr val="102A26"/>
                </a:solidFill>
                <a:latin typeface="Calibri"/>
              </a:rPr>
              <a:t>TEACHER</a:t>
            </a:r>
          </a:p>
        </p:txBody>
      </p:sp>
      <p:pic>
        <p:nvPicPr>
          <p:cNvPr id="54" name="Picture 53" descr="5_Games.png"/>
          <p:cNvPicPr>
            <a:picLocks noChangeAspect="1"/>
          </p:cNvPicPr>
          <p:nvPr/>
        </p:nvPicPr>
        <p:blipFill>
          <a:blip r:embed="rId6"/>
          <a:srcRect t="14774" b="14774"/>
          <a:stretch>
            <a:fillRect/>
          </a:stretch>
        </p:blipFill>
        <p:spPr>
          <a:xfrm>
            <a:off x="8010144" y="3886200"/>
            <a:ext cx="3246120" cy="1508760"/>
          </a:xfrm>
          <a:prstGeom prst="rect">
            <a:avLst/>
          </a:prstGeom>
          <a:ln>
            <a:solidFill/>
          </a:ln>
        </p:spPr>
      </p:pic>
      <p:sp>
        <p:nvSpPr>
          <p:cNvPr id="55" name="Rectangle 54"/>
          <p:cNvSpPr/>
          <p:nvPr/>
        </p:nvSpPr>
        <p:spPr>
          <a:xfrm>
            <a:off x="8010144" y="3886200"/>
            <a:ext cx="3246120" cy="150876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129016" y="4005072"/>
            <a:ext cx="786384" cy="228600"/>
          </a:xfrm>
          <a:prstGeom prst="roundRect">
            <a:avLst/>
          </a:prstGeom>
          <a:solidFill>
            <a:srgbClr val="6D28D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02168" y="4023359"/>
            <a:ext cx="640080" cy="19202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990" b="1">
                <a:solidFill>
                  <a:srgbClr val="102A26"/>
                </a:solidFill>
                <a:latin typeface="Calibri"/>
              </a:rPr>
              <a:t>GAMES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6437376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EduEarth Theme Background - story" descr="eduearth_bg_sto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2680" y="658368"/>
            <a:ext cx="10058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658368"/>
            <a:ext cx="411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6080760"/>
            <a:ext cx="640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89888" y="6080760"/>
            <a:ext cx="109728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75720" y="1344168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75720" y="1545336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1746504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5720" y="1947672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>
                <a:solidFill>
                  <a:srgbClr val="41645C"/>
                </a:solidFill>
                <a:latin typeface="Calibri"/>
              </a:rPr>
              <a:t>EduEarth |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120" b="1">
                <a:solidFill>
                  <a:srgbClr val="41645C"/>
                </a:solidFill>
                <a:latin typeface="Calibri"/>
              </a:rPr>
              <a:t>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2011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120" b="1">
                <a:solidFill>
                  <a:srgbClr val="41645C"/>
                </a:solidFill>
                <a:latin typeface="Courier New"/>
              </a:rPr>
              <a:t>08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"/>
            <a:ext cx="73152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566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" y="566928"/>
            <a:ext cx="7315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713232"/>
            <a:ext cx="66751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>
                <a:solidFill>
                  <a:srgbClr val="102A26"/>
                </a:solidFill>
                <a:latin typeface="Calibri"/>
              </a:rPr>
              <a:t>Learning Modules &amp; Gamification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1170432"/>
            <a:ext cx="7406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0">
                <a:solidFill>
                  <a:srgbClr val="41645C"/>
                </a:solidFill>
                <a:latin typeface="Calibri"/>
              </a:rPr>
              <a:t>Curriculum breadth plus visible rewards keeps environmental topics actionable.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481328"/>
            <a:ext cx="1298448" cy="86868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1591056"/>
            <a:ext cx="969264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 dirty="0">
                <a:solidFill>
                  <a:srgbClr val="11845B"/>
                </a:solidFill>
                <a:latin typeface="Courier New"/>
              </a:rPr>
              <a:t>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1965960"/>
            <a:ext cx="9692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 dirty="0">
                <a:solidFill>
                  <a:srgbClr val="41645C"/>
                </a:solidFill>
                <a:latin typeface="Calibri"/>
              </a:rPr>
              <a:t>MODULE CATALOG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31136" y="1481328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95728" y="1591056"/>
            <a:ext cx="1179576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 dirty="0">
                <a:solidFill>
                  <a:srgbClr val="2563EB"/>
                </a:solidFill>
                <a:latin typeface="Courier New"/>
              </a:rPr>
              <a:t>428K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1975104"/>
            <a:ext cx="1179576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 dirty="0">
                <a:solidFill>
                  <a:srgbClr val="41645C"/>
                </a:solidFill>
                <a:latin typeface="Calibri"/>
              </a:rPr>
              <a:t>SAMPLE ENROLLMENTS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50208" y="1481328"/>
            <a:ext cx="1298448" cy="86868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0" y="1581912"/>
            <a:ext cx="969264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 dirty="0">
                <a:solidFill>
                  <a:srgbClr val="6D28D9"/>
                </a:solidFill>
                <a:latin typeface="Courier New"/>
              </a:rPr>
              <a:t>4.76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1975104"/>
            <a:ext cx="9692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 dirty="0">
                <a:solidFill>
                  <a:srgbClr val="41645C"/>
                </a:solidFill>
                <a:latin typeface="Calibri"/>
              </a:rPr>
              <a:t>AVERAGE RATING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27066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1">
                <a:solidFill>
                  <a:srgbClr val="102A26"/>
                </a:solidFill>
                <a:latin typeface="Calibri"/>
              </a:rPr>
              <a:t>Module categories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306324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39" b="0">
                <a:solidFill>
                  <a:srgbClr val="41645C"/>
                </a:solidFill>
                <a:latin typeface="Calibri"/>
              </a:rPr>
              <a:t>Sustainability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33472" y="3090672"/>
            <a:ext cx="2103120" cy="8229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33472" y="3090672"/>
            <a:ext cx="2057400" cy="82296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8032" y="3044952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ourier New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3392424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39" b="0">
                <a:solidFill>
                  <a:srgbClr val="41645C"/>
                </a:solidFill>
                <a:latin typeface="Calibri"/>
              </a:rPr>
              <a:t>Global Environmental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33472" y="3419856"/>
            <a:ext cx="2103120" cy="8229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33472" y="3419856"/>
            <a:ext cx="176348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28032" y="3374136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ourier New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372160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39" b="0">
                <a:solidFill>
                  <a:srgbClr val="41645C"/>
                </a:solidFill>
                <a:latin typeface="Calibri"/>
              </a:rPr>
              <a:t>Energy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33472" y="3749040"/>
            <a:ext cx="2103120" cy="8229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33472" y="3749040"/>
            <a:ext cx="1469571" cy="8229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28032" y="3703320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ourier New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" y="4050791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39" b="0">
                <a:solidFill>
                  <a:srgbClr val="41645C"/>
                </a:solidFill>
                <a:latin typeface="Calibri"/>
              </a:rPr>
              <a:t>Pollution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33472" y="4078224"/>
            <a:ext cx="2103120" cy="8229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633472" y="4078224"/>
            <a:ext cx="1469571" cy="8229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28032" y="40325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ourier New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" y="4379976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39" b="0">
                <a:solidFill>
                  <a:srgbClr val="41645C"/>
                </a:solidFill>
                <a:latin typeface="Calibri"/>
              </a:rPr>
              <a:t>Biodiversity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33472" y="4407408"/>
            <a:ext cx="2103120" cy="8229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633472" y="4407408"/>
            <a:ext cx="1175657" cy="82296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28032" y="4361688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ourier New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" y="47091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39" b="0">
                <a:solidFill>
                  <a:srgbClr val="41645C"/>
                </a:solidFill>
                <a:latin typeface="Calibri"/>
              </a:rPr>
              <a:t>Climate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33472" y="4736592"/>
            <a:ext cx="2103120" cy="8229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633472" y="4736592"/>
            <a:ext cx="88174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28032" y="4690872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ourier New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" y="5038344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39" b="0">
                <a:solidFill>
                  <a:srgbClr val="41645C"/>
                </a:solidFill>
                <a:latin typeface="Calibri"/>
              </a:rPr>
              <a:t>Weather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33472" y="5065776"/>
            <a:ext cx="2103120" cy="8229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633472" y="5065776"/>
            <a:ext cx="293914" cy="8229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28032" y="5020056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ourier New"/>
              </a:rPr>
              <a:t>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50992" y="1444752"/>
            <a:ext cx="5486400" cy="452628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8" name="Picture 57" descr="6_Modules.png"/>
          <p:cNvPicPr>
            <a:picLocks noChangeAspect="1"/>
          </p:cNvPicPr>
          <p:nvPr/>
        </p:nvPicPr>
        <p:blipFill>
          <a:blip r:embed="rId4"/>
          <a:srcRect l="17757" r="17757"/>
          <a:stretch>
            <a:fillRect/>
          </a:stretch>
        </p:blipFill>
        <p:spPr>
          <a:xfrm>
            <a:off x="5870448" y="1682496"/>
            <a:ext cx="2487168" cy="1828800"/>
          </a:xfrm>
          <a:prstGeom prst="rect">
            <a:avLst/>
          </a:prstGeom>
          <a:ln>
            <a:solidFill/>
          </a:ln>
        </p:spPr>
      </p:pic>
      <p:sp>
        <p:nvSpPr>
          <p:cNvPr id="59" name="Rectangle 58"/>
          <p:cNvSpPr/>
          <p:nvPr/>
        </p:nvSpPr>
        <p:spPr>
          <a:xfrm>
            <a:off x="5870448" y="1682496"/>
            <a:ext cx="2487168" cy="18288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60" name="Picture 59" descr="12_CourseDetail.png"/>
          <p:cNvPicPr>
            <a:picLocks noChangeAspect="1"/>
          </p:cNvPicPr>
          <p:nvPr/>
        </p:nvPicPr>
        <p:blipFill>
          <a:blip r:embed="rId5"/>
          <a:srcRect t="10104" b="10104"/>
          <a:stretch>
            <a:fillRect/>
          </a:stretch>
        </p:blipFill>
        <p:spPr>
          <a:xfrm>
            <a:off x="8522208" y="1682496"/>
            <a:ext cx="2359152" cy="1828800"/>
          </a:xfrm>
          <a:prstGeom prst="rect">
            <a:avLst/>
          </a:prstGeom>
          <a:ln>
            <a:solidFill/>
          </a:ln>
        </p:spPr>
      </p:pic>
      <p:sp>
        <p:nvSpPr>
          <p:cNvPr id="61" name="Rectangle 60"/>
          <p:cNvSpPr/>
          <p:nvPr/>
        </p:nvSpPr>
        <p:spPr>
          <a:xfrm>
            <a:off x="8522208" y="1682496"/>
            <a:ext cx="2359152" cy="18288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870448" y="3822191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70" b="1">
                <a:solidFill>
                  <a:srgbClr val="102A26"/>
                </a:solidFill>
                <a:latin typeface="Calibri"/>
              </a:rPr>
              <a:t>Assignments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70448" y="4041648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Due dates, status and grading flow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22208" y="3822191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70" b="1">
                <a:solidFill>
                  <a:srgbClr val="102A26"/>
                </a:solidFill>
                <a:latin typeface="Calibri"/>
              </a:rPr>
              <a:t>Missions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22208" y="4041648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Community actions and XP rewards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70448" y="4480559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70" b="1">
                <a:solidFill>
                  <a:srgbClr val="102A26"/>
                </a:solidFill>
                <a:latin typeface="Calibri"/>
              </a:rPr>
              <a:t>Badges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70448" y="470001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Achievement model for consistency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22208" y="4480559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70" b="1">
                <a:solidFill>
                  <a:srgbClr val="102A26"/>
                </a:solidFill>
                <a:latin typeface="Calibri"/>
              </a:rPr>
              <a:t>Leaderboards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22208" y="4700016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Institution and class motivation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6437376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EduEarth Theme Background - story" descr="eduearth_bg_sto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2680" y="658368"/>
            <a:ext cx="10058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658368"/>
            <a:ext cx="411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6080760"/>
            <a:ext cx="640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89888" y="6080760"/>
            <a:ext cx="109728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75720" y="1344168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75720" y="1545336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1746504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5720" y="1947672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>
                <a:solidFill>
                  <a:srgbClr val="41645C"/>
                </a:solidFill>
                <a:latin typeface="Calibri"/>
              </a:rPr>
              <a:t>EduEarth |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120" b="1">
                <a:solidFill>
                  <a:srgbClr val="41645C"/>
                </a:solidFill>
                <a:latin typeface="Calibri"/>
              </a:rPr>
              <a:t>Realtime Games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2011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120" b="1">
                <a:solidFill>
                  <a:srgbClr val="41645C"/>
                </a:solidFill>
                <a:latin typeface="Courier New"/>
              </a:rPr>
              <a:t>09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"/>
            <a:ext cx="73152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566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" y="566928"/>
            <a:ext cx="7315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713232"/>
            <a:ext cx="66751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>
                <a:solidFill>
                  <a:srgbClr val="102A26"/>
                </a:solidFill>
                <a:latin typeface="Calibri"/>
              </a:rPr>
              <a:t>Games | Interactive Environmental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1170432"/>
            <a:ext cx="7406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0">
                <a:solidFill>
                  <a:srgbClr val="41645C"/>
                </a:solidFill>
                <a:latin typeface="Calibri"/>
              </a:rPr>
              <a:t>Three game experiences turn quiz content and waste sorting into active recall.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99616"/>
            <a:ext cx="3246120" cy="201168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0" name="Picture 19" descr="11_Game_RecycleRush.png"/>
          <p:cNvPicPr>
            <a:picLocks noChangeAspect="1"/>
          </p:cNvPicPr>
          <p:nvPr/>
        </p:nvPicPr>
        <p:blipFill>
          <a:blip r:embed="rId4"/>
          <a:srcRect t="18297" b="18297"/>
          <a:stretch>
            <a:fillRect/>
          </a:stretch>
        </p:blipFill>
        <p:spPr>
          <a:xfrm>
            <a:off x="859536" y="1664208"/>
            <a:ext cx="2953512" cy="1170432"/>
          </a:xfrm>
          <a:prstGeom prst="rect">
            <a:avLst/>
          </a:prstGeom>
          <a:ln>
            <a:solidFill/>
          </a:ln>
        </p:spPr>
      </p:pic>
      <p:sp>
        <p:nvSpPr>
          <p:cNvPr id="21" name="Rectangle 20"/>
          <p:cNvSpPr/>
          <p:nvPr/>
        </p:nvSpPr>
        <p:spPr>
          <a:xfrm>
            <a:off x="859536" y="1664208"/>
            <a:ext cx="2953512" cy="1170432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2971800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1">
                <a:solidFill>
                  <a:srgbClr val="102A26"/>
                </a:solidFill>
                <a:latin typeface="Calibri"/>
              </a:rPr>
              <a:t>Recycle Rush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2186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50" b="0">
                <a:solidFill>
                  <a:srgbClr val="41645C"/>
                </a:solidFill>
                <a:latin typeface="Calibri"/>
              </a:rPr>
              <a:t>Waste sorting with custom bin and item assets.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6432" y="3017520"/>
            <a:ext cx="22860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462272" y="1499616"/>
            <a:ext cx="3246120" cy="201168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6" name="Picture 25" descr="9_Game_EcoStrike.png"/>
          <p:cNvPicPr>
            <a:picLocks noChangeAspect="1"/>
          </p:cNvPicPr>
          <p:nvPr/>
        </p:nvPicPr>
        <p:blipFill>
          <a:blip r:embed="rId5"/>
          <a:srcRect t="18297" b="18297"/>
          <a:stretch>
            <a:fillRect/>
          </a:stretch>
        </p:blipFill>
        <p:spPr>
          <a:xfrm>
            <a:off x="4608576" y="1664208"/>
            <a:ext cx="2953512" cy="1170432"/>
          </a:xfrm>
          <a:prstGeom prst="rect">
            <a:avLst/>
          </a:prstGeom>
          <a:ln>
            <a:solidFill/>
          </a:ln>
        </p:spPr>
      </p:pic>
      <p:sp>
        <p:nvSpPr>
          <p:cNvPr id="27" name="Rectangle 26"/>
          <p:cNvSpPr/>
          <p:nvPr/>
        </p:nvSpPr>
        <p:spPr>
          <a:xfrm>
            <a:off x="4608576" y="1664208"/>
            <a:ext cx="2953512" cy="1170432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26864" y="2971800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1">
                <a:solidFill>
                  <a:srgbClr val="102A26"/>
                </a:solidFill>
                <a:latin typeface="Calibri"/>
              </a:rPr>
              <a:t>Eco Strike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32186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50" b="0">
                <a:solidFill>
                  <a:srgbClr val="41645C"/>
                </a:solidFill>
                <a:latin typeface="Calibri"/>
              </a:rPr>
              <a:t>Quiz battle where answers trigger attacks.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5472" y="3017520"/>
            <a:ext cx="22860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11311" y="1499616"/>
            <a:ext cx="3246120" cy="201168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2" name="Picture 31" descr="8_Game_EcoSprint.png"/>
          <p:cNvPicPr>
            <a:picLocks noChangeAspect="1"/>
          </p:cNvPicPr>
          <p:nvPr/>
        </p:nvPicPr>
        <p:blipFill>
          <a:blip r:embed="rId6"/>
          <a:srcRect t="18297" b="18297"/>
          <a:stretch>
            <a:fillRect/>
          </a:stretch>
        </p:blipFill>
        <p:spPr>
          <a:xfrm>
            <a:off x="8357615" y="1664208"/>
            <a:ext cx="2953512" cy="1170432"/>
          </a:xfrm>
          <a:prstGeom prst="rect">
            <a:avLst/>
          </a:prstGeom>
          <a:ln>
            <a:solidFill/>
          </a:ln>
        </p:spPr>
      </p:pic>
      <p:sp>
        <p:nvSpPr>
          <p:cNvPr id="33" name="Rectangle 32"/>
          <p:cNvSpPr/>
          <p:nvPr/>
        </p:nvSpPr>
        <p:spPr>
          <a:xfrm>
            <a:off x="8357615" y="1664208"/>
            <a:ext cx="2953512" cy="1170432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75903" y="2971800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1">
                <a:solidFill>
                  <a:srgbClr val="102A26"/>
                </a:solidFill>
                <a:latin typeface="Calibri"/>
              </a:rPr>
              <a:t>Eco Sprint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3" y="32186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50" b="0">
                <a:solidFill>
                  <a:srgbClr val="41645C"/>
                </a:solidFill>
                <a:latin typeface="Calibri"/>
              </a:rPr>
              <a:t>Realtime race powered by Socket.io matching.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54511" y="3017520"/>
            <a:ext cx="228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8" y="40050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102A26"/>
                </a:solidFill>
                <a:latin typeface="Calibri"/>
              </a:rPr>
              <a:t>Realtime game loop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" y="4462272"/>
            <a:ext cx="1417320" cy="53035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7824" y="4498848"/>
            <a:ext cx="1271016" cy="45719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Join queue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2304288" y="4654296"/>
            <a:ext cx="310896" cy="118872"/>
          </a:xfrm>
          <a:prstGeom prst="rightArrow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862072" y="4462272"/>
            <a:ext cx="1417320" cy="53035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35224" y="4498848"/>
            <a:ext cx="1271016" cy="45719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Match players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4361688" y="4654296"/>
            <a:ext cx="310896" cy="1188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919472" y="4462272"/>
            <a:ext cx="1417320" cy="53035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92624" y="4498848"/>
            <a:ext cx="1271016" cy="45719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5 questions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6419088" y="4654296"/>
            <a:ext cx="310896" cy="118872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976872" y="4462272"/>
            <a:ext cx="1417320" cy="53035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050024" y="4498848"/>
            <a:ext cx="1271016" cy="45719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15s timer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476488" y="4654296"/>
            <a:ext cx="310896" cy="118872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9034272" y="4462272"/>
            <a:ext cx="1417320" cy="53035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07424" y="4498848"/>
            <a:ext cx="1271016" cy="45719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170" b="1">
                <a:solidFill>
                  <a:srgbClr val="102A26"/>
                </a:solidFill>
                <a:latin typeface="Calibri"/>
              </a:rPr>
              <a:t>Score + winner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285232"/>
            <a:ext cx="1014984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0">
                <a:solidFill>
                  <a:srgbClr val="41645C"/>
                </a:solidFill>
                <a:latin typeface="Calibri"/>
              </a:rPr>
              <a:t>Socket.io keeps queue state, question events, scoring and disconnect handling responsive during multiplayer sessions.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6437376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EduEarth Theme Background - data" descr="eduearth_bg_dat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2680" y="658368"/>
            <a:ext cx="10058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658368"/>
            <a:ext cx="411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6080760"/>
            <a:ext cx="640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89888" y="6080760"/>
            <a:ext cx="109728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75720" y="1344168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75720" y="1545336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1746504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5720" y="1947672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>
                <a:solidFill>
                  <a:srgbClr val="41645C"/>
                </a:solidFill>
                <a:latin typeface="Calibri"/>
              </a:rPr>
              <a:t>EduEarth |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120" b="1">
                <a:solidFill>
                  <a:srgbClr val="41645C"/>
                </a:solidFill>
                <a:latin typeface="Calibri"/>
              </a:rPr>
              <a:t>Environmental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2011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120" b="1">
                <a:solidFill>
                  <a:srgbClr val="41645C"/>
                </a:solidFill>
                <a:latin typeface="Courier New"/>
              </a:rPr>
              <a:t>10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"/>
            <a:ext cx="73152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566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" y="566928"/>
            <a:ext cx="7315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713232"/>
            <a:ext cx="66751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>
                <a:solidFill>
                  <a:srgbClr val="102A26"/>
                </a:solidFill>
                <a:latin typeface="Calibri"/>
              </a:rPr>
              <a:t>Articles &amp; Environmental Data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1170432"/>
            <a:ext cx="7406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0">
                <a:solidFill>
                  <a:srgbClr val="41645C"/>
                </a:solidFill>
                <a:latin typeface="Calibri"/>
              </a:rPr>
              <a:t>External climate and RSS data becomes classroom-ready learning material.</a:t>
            </a:r>
          </a:p>
        </p:txBody>
      </p:sp>
      <p:pic>
        <p:nvPicPr>
          <p:cNvPr id="19" name="Picture 18" descr="4_Articles.png"/>
          <p:cNvPicPr>
            <a:picLocks noChangeAspect="1"/>
          </p:cNvPicPr>
          <p:nvPr/>
        </p:nvPicPr>
        <p:blipFill>
          <a:blip r:embed="rId4"/>
          <a:srcRect l="2883" r="2883"/>
          <a:stretch>
            <a:fillRect/>
          </a:stretch>
        </p:blipFill>
        <p:spPr>
          <a:xfrm>
            <a:off x="749808" y="1481328"/>
            <a:ext cx="4617720" cy="2331720"/>
          </a:xfrm>
          <a:prstGeom prst="rect">
            <a:avLst/>
          </a:prstGeom>
          <a:ln>
            <a:solidFill/>
          </a:ln>
        </p:spPr>
      </p:pic>
      <p:sp>
        <p:nvSpPr>
          <p:cNvPr id="20" name="Rectangle 19"/>
          <p:cNvSpPr/>
          <p:nvPr/>
        </p:nvSpPr>
        <p:spPr>
          <a:xfrm>
            <a:off x="749808" y="1481328"/>
            <a:ext cx="4617720" cy="233172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1" name="Picture 20" descr="flow_airflow_et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9874" y="1417320"/>
            <a:ext cx="4528091" cy="2514600"/>
          </a:xfrm>
          <a:prstGeom prst="rect">
            <a:avLst/>
          </a:prstGeom>
          <a:ln>
            <a:solidFill/>
          </a:ln>
        </p:spPr>
      </p:pic>
      <p:sp>
        <p:nvSpPr>
          <p:cNvPr id="22" name="Rectangle 21"/>
          <p:cNvSpPr/>
          <p:nvPr/>
        </p:nvSpPr>
        <p:spPr>
          <a:xfrm>
            <a:off x="6239874" y="1417320"/>
            <a:ext cx="4528091" cy="25146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" y="4370832"/>
            <a:ext cx="2423160" cy="76809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49884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11845B"/>
                </a:solidFill>
                <a:latin typeface="Courier New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4389120"/>
            <a:ext cx="170992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 dirty="0">
                <a:solidFill>
                  <a:srgbClr val="102A26"/>
                </a:solidFill>
                <a:latin typeface="Calibri"/>
              </a:rPr>
              <a:t>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4617720"/>
            <a:ext cx="1709928" cy="265175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 dirty="0">
                <a:solidFill>
                  <a:srgbClr val="41645C"/>
                </a:solidFill>
                <a:latin typeface="Calibri"/>
              </a:rPr>
              <a:t>Open-</a:t>
            </a:r>
            <a:r>
              <a:rPr sz="1070" b="0" dirty="0" err="1">
                <a:solidFill>
                  <a:srgbClr val="41645C"/>
                </a:solidFill>
                <a:latin typeface="Calibri"/>
              </a:rPr>
              <a:t>Meteo</a:t>
            </a:r>
            <a:r>
              <a:rPr sz="1070" b="0" dirty="0">
                <a:solidFill>
                  <a:srgbClr val="41645C"/>
                </a:solidFill>
                <a:latin typeface="Calibri"/>
              </a:rPr>
              <a:t> climate API plus Guardian, UNEP and NASA Earth RSS feeds.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4370832"/>
            <a:ext cx="2423160" cy="76809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0" y="449884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2563EB"/>
                </a:solidFill>
                <a:latin typeface="Courier New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4407408"/>
            <a:ext cx="170992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 dirty="0">
                <a:solidFill>
                  <a:srgbClr val="102A26"/>
                </a:solidFill>
                <a:latin typeface="Calibri"/>
              </a:rPr>
              <a:t>AIRFLOW DAG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7368" y="4645152"/>
            <a:ext cx="1709928" cy="265175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 dirty="0">
                <a:solidFill>
                  <a:srgbClr val="41645C"/>
                </a:solidFill>
                <a:latin typeface="Calibri"/>
              </a:rPr>
              <a:t>Scheduled scraping, retries, data quality and freshness checks.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370832"/>
            <a:ext cx="2423160" cy="76809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449884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6D28D9"/>
                </a:solidFill>
                <a:latin typeface="Courier New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4379976"/>
            <a:ext cx="170992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 dirty="0">
                <a:solidFill>
                  <a:srgbClr val="102A26"/>
                </a:solidFill>
                <a:latin typeface="Calibri"/>
              </a:rPr>
              <a:t>ENRICHMENT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4617720"/>
            <a:ext cx="1709928" cy="265175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 dirty="0">
                <a:solidFill>
                  <a:srgbClr val="41645C"/>
                </a:solidFill>
                <a:latin typeface="Calibri"/>
              </a:rPr>
              <a:t>Topic, grade band, difficulty, learning objective, tags and relevance score.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4370832"/>
            <a:ext cx="2423160" cy="76809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0" y="449884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B45309"/>
                </a:solidFill>
                <a:latin typeface="Courier New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3767" y="4389120"/>
            <a:ext cx="170992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 dirty="0">
                <a:solidFill>
                  <a:srgbClr val="102A26"/>
                </a:solidFill>
                <a:latin typeface="Calibri"/>
              </a:rPr>
              <a:t>OUTBOX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3767" y="4608576"/>
            <a:ext cx="1709928" cy="265175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 dirty="0">
                <a:solidFill>
                  <a:srgbClr val="41645C"/>
                </a:solidFill>
                <a:latin typeface="Calibri"/>
              </a:rPr>
              <a:t>Reliable </a:t>
            </a:r>
            <a:r>
              <a:rPr sz="1070" b="0" dirty="0" err="1">
                <a:solidFill>
                  <a:srgbClr val="41645C"/>
                </a:solidFill>
                <a:latin typeface="Calibri"/>
              </a:rPr>
              <a:t>websocket</a:t>
            </a:r>
            <a:r>
              <a:rPr sz="1070" b="0" dirty="0">
                <a:solidFill>
                  <a:srgbClr val="41645C"/>
                </a:solidFill>
                <a:latin typeface="Calibri"/>
              </a:rPr>
              <a:t> events publish deltas without re-scraping.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486400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270" b="1">
                <a:solidFill>
                  <a:srgbClr val="102A26"/>
                </a:solidFill>
                <a:latin typeface="Calibri"/>
              </a:rPr>
              <a:t>Result: teachers and learners can consume timely environmental stories as structured, searchable educational content.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437376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EduEarth Theme Background - tech" descr="eduearth_bg_te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2680" y="658368"/>
            <a:ext cx="10058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658368"/>
            <a:ext cx="411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6080760"/>
            <a:ext cx="640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89888" y="6080760"/>
            <a:ext cx="109728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75720" y="1344168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75720" y="1545336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1746504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5720" y="1947672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>
                <a:solidFill>
                  <a:srgbClr val="41645C"/>
                </a:solidFill>
                <a:latin typeface="Calibri"/>
              </a:rPr>
              <a:t>EduEarth |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120" b="1">
                <a:solidFill>
                  <a:srgbClr val="41645C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2011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120" b="1">
                <a:solidFill>
                  <a:srgbClr val="41645C"/>
                </a:solidFill>
                <a:latin typeface="Courier New"/>
              </a:rPr>
              <a:t>11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"/>
            <a:ext cx="73152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566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" y="566928"/>
            <a:ext cx="7315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713232"/>
            <a:ext cx="66751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>
                <a:solidFill>
                  <a:srgbClr val="102A26"/>
                </a:solidFill>
                <a:latin typeface="Calibri"/>
              </a:rPr>
              <a:t>Backend | API, Auth &amp; Realtime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1170432"/>
            <a:ext cx="7406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0">
                <a:solidFill>
                  <a:srgbClr val="41645C"/>
                </a:solidFill>
                <a:latin typeface="Calibri"/>
              </a:rPr>
              <a:t>Express serves domain APIs while Socket.io handles interactive game and outbox events.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137160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0">
                <a:solidFill>
                  <a:srgbClr val="41645C"/>
                </a:solidFill>
                <a:latin typeface="Calibri"/>
              </a:rPr>
              <a:t>Node + Express + Socket.io, modular by route and responsibility.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1828800"/>
            <a:ext cx="2880360" cy="76809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197510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11845B"/>
                </a:solidFill>
                <a:latin typeface="Courier New"/>
              </a:rPr>
              <a:t>REST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231136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30" b="0">
                <a:solidFill>
                  <a:srgbClr val="41645C"/>
                </a:solidFill>
                <a:latin typeface="Calibri"/>
              </a:rPr>
              <a:t>Auth, institutions, classes, lessons, quizzes, articles, metrics and flow routes.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95928" y="1828800"/>
            <a:ext cx="2880360" cy="76809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197510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2563EB"/>
                </a:solidFill>
                <a:latin typeface="Courier New"/>
              </a:rPr>
              <a:t>Auth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2231136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30" b="0">
                <a:solidFill>
                  <a:srgbClr val="41645C"/>
                </a:solidFill>
                <a:latin typeface="Calibri"/>
              </a:rPr>
              <a:t>Supabase bearer tokens validated on protected create/update/delete flows.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2834640"/>
            <a:ext cx="2880360" cy="76809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298094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6D28D9"/>
                </a:solidFill>
                <a:latin typeface="Courier New"/>
              </a:rPr>
              <a:t>Prisma Data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236976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30" b="0">
                <a:solidFill>
                  <a:srgbClr val="41645C"/>
                </a:solidFill>
                <a:latin typeface="Calibri"/>
              </a:rPr>
              <a:t>Typed access to users, institutions, lessons, quizzes, badges and articles.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95928" y="2834640"/>
            <a:ext cx="2880360" cy="76809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60520" y="298094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B45309"/>
                </a:solidFill>
                <a:latin typeface="Courier New"/>
              </a:rPr>
              <a:t>Realtime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236976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30" b="0">
                <a:solidFill>
                  <a:srgbClr val="41645C"/>
                </a:solidFill>
                <a:latin typeface="Calibri"/>
              </a:rPr>
              <a:t>Socket.io queue, matchmaking, question events and winner calculation.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3840480"/>
            <a:ext cx="2880360" cy="76809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398678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11845B"/>
                </a:solidFill>
                <a:latin typeface="Courier New"/>
              </a:rPr>
              <a:t>Observability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242816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30" b="0">
                <a:solidFill>
                  <a:srgbClr val="41645C"/>
                </a:solidFill>
                <a:latin typeface="Calibri"/>
              </a:rPr>
              <a:t>Pino request logging, request IDs and Prometheus metrics endpoint.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95928" y="3840480"/>
            <a:ext cx="2880360" cy="76809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60520" y="398678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2563EB"/>
                </a:solidFill>
                <a:latin typeface="Courier New"/>
              </a:rPr>
              <a:t>Outbox Publisher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4242816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30" b="0">
                <a:solidFill>
                  <a:srgbClr val="41645C"/>
                </a:solidFill>
                <a:latin typeface="Calibri"/>
              </a:rPr>
              <a:t>Polls unsent events and emits reliable websocket updates.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79" y="1572768"/>
            <a:ext cx="3611880" cy="391363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99248" y="18105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1">
                <a:solidFill>
                  <a:srgbClr val="102A26"/>
                </a:solidFill>
                <a:latin typeface="Calibri"/>
              </a:rPr>
              <a:t>Primary API surface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2212848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89" b="0">
                <a:solidFill>
                  <a:srgbClr val="41645C"/>
                </a:solidFill>
                <a:latin typeface="Courier New"/>
              </a:rPr>
              <a:t>GET /health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251460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89" b="0">
                <a:solidFill>
                  <a:srgbClr val="41645C"/>
                </a:solidFill>
                <a:latin typeface="Courier New"/>
              </a:rPr>
              <a:t>GET /metrics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2816352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89" b="0">
                <a:solidFill>
                  <a:srgbClr val="41645C"/>
                </a:solidFill>
                <a:latin typeface="Courier New"/>
              </a:rPr>
              <a:t>/auth/user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79" y="3118104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89" b="0">
                <a:solidFill>
                  <a:srgbClr val="41645C"/>
                </a:solidFill>
                <a:latin typeface="Courier New"/>
              </a:rPr>
              <a:t>/institutions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79" y="3419856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89" b="0">
                <a:solidFill>
                  <a:srgbClr val="41645C"/>
                </a:solidFill>
                <a:latin typeface="Courier New"/>
              </a:rPr>
              <a:t>/classes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79" y="3721608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89" b="0">
                <a:solidFill>
                  <a:srgbClr val="41645C"/>
                </a:solidFill>
                <a:latin typeface="Courier New"/>
              </a:rPr>
              <a:t>/lessons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402336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89" b="0">
                <a:solidFill>
                  <a:srgbClr val="41645C"/>
                </a:solidFill>
                <a:latin typeface="Courier New"/>
              </a:rPr>
              <a:t>/quizzes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79" y="4325112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89" b="0">
                <a:solidFill>
                  <a:srgbClr val="41645C"/>
                </a:solidFill>
                <a:latin typeface="Courier New"/>
              </a:rPr>
              <a:t>/articles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4626864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89" b="0">
                <a:solidFill>
                  <a:srgbClr val="41645C"/>
                </a:solidFill>
                <a:latin typeface="Courier New"/>
              </a:rPr>
              <a:t>/game/health + /stats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437376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EduEarth Theme Background - tech" descr="eduearth_bg_te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2680" y="658368"/>
            <a:ext cx="10058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658368"/>
            <a:ext cx="411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6080760"/>
            <a:ext cx="640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89888" y="6080760"/>
            <a:ext cx="109728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75720" y="1344168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75720" y="1545336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1746504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5720" y="1947672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>
                <a:solidFill>
                  <a:srgbClr val="41645C"/>
                </a:solidFill>
                <a:latin typeface="Calibri"/>
              </a:rPr>
              <a:t>EduEarth |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120" b="1">
                <a:solidFill>
                  <a:srgbClr val="41645C"/>
                </a:solidFill>
                <a:latin typeface="Calibri"/>
              </a:rPr>
              <a:t>Backend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2011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120" b="1">
                <a:solidFill>
                  <a:srgbClr val="41645C"/>
                </a:solidFill>
                <a:latin typeface="Courier New"/>
              </a:rPr>
              <a:t>12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"/>
            <a:ext cx="73152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566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" y="566928"/>
            <a:ext cx="7315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713232"/>
            <a:ext cx="66751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>
                <a:solidFill>
                  <a:srgbClr val="102A26"/>
                </a:solidFill>
                <a:latin typeface="Calibri"/>
              </a:rPr>
              <a:t>Backend | Request Lifecycle &amp;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1170432"/>
            <a:ext cx="7406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0">
                <a:solidFill>
                  <a:srgbClr val="41645C"/>
                </a:solidFill>
                <a:latin typeface="Calibri"/>
              </a:rPr>
              <a:t>A predictable path from browser request to database response and realtime event fan-out.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1417320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1845B"/>
                </a:solidFill>
                <a:latin typeface="Courier New"/>
              </a:rPr>
              <a:t>REQUEST LIFECYCLE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1828800"/>
            <a:ext cx="2834640" cy="71323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195681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102A26"/>
                </a:solidFill>
                <a:latin typeface="Calibri"/>
              </a:rPr>
              <a:t>Client fetch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21284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60" b="0">
                <a:solidFill>
                  <a:srgbClr val="41645C"/>
                </a:solidFill>
                <a:latin typeface="Courier New"/>
              </a:rPr>
              <a:t>NEXT_PUBLIC_SERVER_URL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721608" y="2121408"/>
            <a:ext cx="310896" cy="118872"/>
          </a:xfrm>
          <a:prstGeom prst="rightArrow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361688" y="1828800"/>
            <a:ext cx="2834640" cy="71323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195681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102A26"/>
                </a:solidFill>
                <a:latin typeface="Calibri"/>
              </a:rPr>
              <a:t>CORS +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21284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60" b="0">
                <a:solidFill>
                  <a:srgbClr val="41645C"/>
                </a:solidFill>
                <a:latin typeface="Courier New"/>
              </a:rPr>
              <a:t>Express middleware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333488" y="2121408"/>
            <a:ext cx="310896" cy="1188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973568" y="1828800"/>
            <a:ext cx="2834640" cy="71323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0" y="195681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102A26"/>
                </a:solidFill>
                <a:latin typeface="Calibri"/>
              </a:rPr>
              <a:t>Auth 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21284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60" b="0">
                <a:solidFill>
                  <a:srgbClr val="41645C"/>
                </a:solidFill>
                <a:latin typeface="Courier New"/>
              </a:rPr>
              <a:t>validToken middleware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2907791"/>
            <a:ext cx="2834640" cy="71323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30358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102A26"/>
                </a:solidFill>
                <a:latin typeface="Calibri"/>
              </a:rPr>
              <a:t>Controller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291839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60" b="0">
                <a:solidFill>
                  <a:srgbClr val="41645C"/>
                </a:solidFill>
                <a:latin typeface="Courier New"/>
              </a:rPr>
              <a:t>Route-specific handler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721608" y="3200399"/>
            <a:ext cx="310896" cy="118872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361688" y="2907791"/>
            <a:ext cx="2834640" cy="71323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26280" y="30358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102A26"/>
                </a:solidFill>
                <a:latin typeface="Calibri"/>
              </a:rPr>
              <a:t>Service/Repo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3291839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60" b="0">
                <a:solidFill>
                  <a:srgbClr val="41645C"/>
                </a:solidFill>
                <a:latin typeface="Courier New"/>
              </a:rPr>
              <a:t>Domain logic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333488" y="3200399"/>
            <a:ext cx="310896" cy="118872"/>
          </a:xfrm>
          <a:prstGeom prst="rightArrow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973568" y="2907791"/>
            <a:ext cx="2834640" cy="71323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38160" y="30358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102A26"/>
                </a:solidFill>
                <a:latin typeface="Calibri"/>
              </a:rPr>
              <a:t>Prisma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3291839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60" b="0">
                <a:solidFill>
                  <a:srgbClr val="41645C"/>
                </a:solidFill>
                <a:latin typeface="Courier New"/>
              </a:rPr>
              <a:t>PostgreSQL read/write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425196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2563EB"/>
                </a:solidFill>
                <a:latin typeface="Courier New"/>
              </a:rPr>
              <a:t>RELIABLE REALTIME PATH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4617720"/>
            <a:ext cx="2011680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0392" y="4654296"/>
            <a:ext cx="1865376" cy="49377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080" b="1">
                <a:solidFill>
                  <a:srgbClr val="102A26"/>
                </a:solidFill>
                <a:latin typeface="Calibri"/>
              </a:rPr>
              <a:t>Ingestion write
websocket_outbox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2880360" y="4828032"/>
            <a:ext cx="310896" cy="1188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520440" y="4617720"/>
            <a:ext cx="2011680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93592" y="4654296"/>
            <a:ext cx="1865376" cy="49377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080" b="1">
                <a:solidFill>
                  <a:srgbClr val="102A26"/>
                </a:solidFill>
                <a:latin typeface="Calibri"/>
              </a:rPr>
              <a:t>Publisher poll
FOR UPDATE SKIP LOCKED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5623560" y="4828032"/>
            <a:ext cx="310896" cy="118872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263640" y="4617720"/>
            <a:ext cx="2011680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36792" y="4654296"/>
            <a:ext cx="1865376" cy="49377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080" b="1">
                <a:solidFill>
                  <a:srgbClr val="102A26"/>
                </a:solidFill>
                <a:latin typeface="Calibri"/>
              </a:rPr>
              <a:t>Socket emit
channel + event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8366760" y="4828032"/>
            <a:ext cx="310896" cy="118872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006840" y="4617720"/>
            <a:ext cx="2011680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079992" y="4654296"/>
            <a:ext cx="1865376" cy="49377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080" b="1">
                <a:solidFill>
                  <a:srgbClr val="102A26"/>
                </a:solidFill>
                <a:latin typeface="Calibri"/>
              </a:rPr>
              <a:t>Client update
fresh UI state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6437376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EduEarth Theme Background - data" descr="eduearth_bg_dat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2680" y="658368"/>
            <a:ext cx="10058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658368"/>
            <a:ext cx="411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6080760"/>
            <a:ext cx="640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89888" y="6080760"/>
            <a:ext cx="109728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75720" y="1344168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75720" y="1545336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1746504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5720" y="1947672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>
                <a:solidFill>
                  <a:srgbClr val="41645C"/>
                </a:solidFill>
                <a:latin typeface="Calibri"/>
              </a:rPr>
              <a:t>EduEarth |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120" b="1">
                <a:solidFill>
                  <a:srgbClr val="41645C"/>
                </a:solidFill>
                <a:latin typeface="Calibri"/>
              </a:rPr>
              <a:t>Data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2011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120" b="1">
                <a:solidFill>
                  <a:srgbClr val="41645C"/>
                </a:solidFill>
                <a:latin typeface="Courier New"/>
              </a:rPr>
              <a:t>13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"/>
            <a:ext cx="73152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566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" y="566928"/>
            <a:ext cx="7315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713232"/>
            <a:ext cx="66751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>
                <a:solidFill>
                  <a:srgbClr val="102A26"/>
                </a:solidFill>
                <a:latin typeface="Calibri"/>
              </a:rPr>
              <a:t>Database | Core Domain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1170432"/>
            <a:ext cx="7406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0">
                <a:solidFill>
                  <a:srgbClr val="41645C"/>
                </a:solidFill>
                <a:latin typeface="Calibri"/>
              </a:rPr>
              <a:t>Prisma models connect users, schools, learning content, activities and environmental articles.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1481328"/>
            <a:ext cx="4617720" cy="440740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7552" y="1847088"/>
            <a:ext cx="164592" cy="164592"/>
          </a:xfrm>
          <a:prstGeom prst="ellipse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8448" y="177393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102A26"/>
                </a:solidFill>
                <a:latin typeface="Calibri"/>
              </a:rPr>
              <a:t>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177393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User, RefreshToken, OTP, role metadata</a:t>
            </a:r>
          </a:p>
        </p:txBody>
      </p:sp>
      <p:sp>
        <p:nvSpPr>
          <p:cNvPr id="23" name="Oval 22"/>
          <p:cNvSpPr/>
          <p:nvPr/>
        </p:nvSpPr>
        <p:spPr>
          <a:xfrm>
            <a:off x="987552" y="256032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98448" y="24871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102A26"/>
                </a:solidFill>
                <a:latin typeface="Calibri"/>
              </a:rPr>
              <a:t>Institution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2487168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Institution, Class, Student, Teacher, class membership</a:t>
            </a:r>
          </a:p>
        </p:txBody>
      </p:sp>
      <p:sp>
        <p:nvSpPr>
          <p:cNvPr id="26" name="Oval 25"/>
          <p:cNvSpPr/>
          <p:nvPr/>
        </p:nvSpPr>
        <p:spPr>
          <a:xfrm>
            <a:off x="987552" y="3273552"/>
            <a:ext cx="164592" cy="164592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98448" y="320040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102A26"/>
                </a:solidFill>
                <a:latin typeface="Calibri"/>
              </a:rPr>
              <a:t>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320040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LessonModule, Lesson, Quiz, QuizQuestion, attempts</a:t>
            </a:r>
          </a:p>
        </p:txBody>
      </p:sp>
      <p:sp>
        <p:nvSpPr>
          <p:cNvPr id="29" name="Oval 28"/>
          <p:cNvSpPr/>
          <p:nvPr/>
        </p:nvSpPr>
        <p:spPr>
          <a:xfrm>
            <a:off x="987552" y="3986783"/>
            <a:ext cx="164592" cy="164592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98448" y="3913631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102A26"/>
                </a:solidFill>
                <a:latin typeface="Calibri"/>
              </a:rPr>
              <a:t>Motivation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3913631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Challenge, EcoActivity, Badge, Achievement, Leaderboard</a:t>
            </a:r>
          </a:p>
        </p:txBody>
      </p:sp>
      <p:sp>
        <p:nvSpPr>
          <p:cNvPr id="32" name="Oval 31"/>
          <p:cNvSpPr/>
          <p:nvPr/>
        </p:nvSpPr>
        <p:spPr>
          <a:xfrm>
            <a:off x="987552" y="4700016"/>
            <a:ext cx="164592" cy="164592"/>
          </a:xfrm>
          <a:prstGeom prst="ellipse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98448" y="46268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1">
                <a:solidFill>
                  <a:srgbClr val="102A26"/>
                </a:solidFill>
                <a:latin typeface="Calibri"/>
              </a:rPr>
              <a:t>Content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626864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Article plus ingestion tables for news, climate and outbox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79008" y="1353312"/>
            <a:ext cx="5321808" cy="464515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6" name="Picture 35" descr="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034" y="1536192"/>
            <a:ext cx="3343754" cy="4279392"/>
          </a:xfrm>
          <a:prstGeom prst="rect">
            <a:avLst/>
          </a:prstGeom>
          <a:ln>
            <a:solidFill/>
          </a:ln>
        </p:spPr>
      </p:pic>
      <p:sp>
        <p:nvSpPr>
          <p:cNvPr id="37" name="Rectangle 36"/>
          <p:cNvSpPr/>
          <p:nvPr/>
        </p:nvSpPr>
        <p:spPr>
          <a:xfrm>
            <a:off x="502920" y="6437376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EduEarth Theme Background - tech" descr="eduearth_bg_te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1945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l"/>
            <a:r>
              <a:rPr sz="1100" b="1">
                <a:solidFill>
                  <a:srgbClr val="41645C"/>
                </a:solidFill>
                <a:latin typeface="Calibri"/>
              </a:rPr>
              <a:t>EduEarth |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1031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/>
            <a:r>
              <a:rPr sz="1100" b="1">
                <a:solidFill>
                  <a:srgbClr val="41645C"/>
                </a:solidFill>
                <a:latin typeface="Calibri"/>
              </a:rP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97312" y="210312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r"/>
            <a:r>
              <a:rPr sz="1100" b="1">
                <a:solidFill>
                  <a:srgbClr val="41645C"/>
                </a:solidFill>
                <a:latin typeface="Courier New"/>
              </a:rPr>
              <a:t>14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85216"/>
            <a:ext cx="914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585216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585216"/>
            <a:ext cx="91440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749808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l"/>
            <a:r>
              <a:rPr sz="3000" b="1">
                <a:solidFill>
                  <a:srgbClr val="102A26"/>
                </a:solidFill>
                <a:latin typeface="Calibri"/>
              </a:rPr>
              <a:t>Project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188720"/>
            <a:ext cx="96926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l"/>
            <a:r>
              <a:rPr sz="1450" b="0">
                <a:solidFill>
                  <a:srgbClr val="41645C"/>
                </a:solidFill>
                <a:latin typeface="Calibri"/>
              </a:rPr>
              <a:t>Client, API, realtime services, PostgreSQL and Airflow ingestion working as one learning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27632"/>
            <a:ext cx="10881360" cy="3822191"/>
          </a:xfrm>
          <a:prstGeom prst="roundRect">
            <a:avLst/>
          </a:prstGeom>
          <a:solidFill>
            <a:srgbClr val="FFFFFF"/>
          </a:solidFill>
          <a:ln w="1397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582" y="1810512"/>
            <a:ext cx="9690930" cy="345643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577840"/>
            <a:ext cx="2514600" cy="786384"/>
          </a:xfrm>
          <a:prstGeom prst="roundRect">
            <a:avLst/>
          </a:prstGeom>
          <a:solidFill>
            <a:srgbClr val="FFFFFF"/>
          </a:solidFill>
          <a:ln w="1397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5696712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l"/>
            <a:r>
              <a:rPr sz="1200" b="1">
                <a:solidFill>
                  <a:srgbClr val="11845B"/>
                </a:solidFill>
                <a:latin typeface="Courier New"/>
              </a:rPr>
              <a:t>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971031"/>
            <a:ext cx="2139696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l"/>
            <a:r>
              <a:rPr sz="950" b="0">
                <a:solidFill>
                  <a:srgbClr val="41645C"/>
                </a:solidFill>
                <a:latin typeface="Calibri"/>
              </a:rPr>
              <a:t>Next.js UI, dashboards, games, articles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5577840"/>
            <a:ext cx="2514600" cy="786384"/>
          </a:xfrm>
          <a:prstGeom prst="roundRect">
            <a:avLst/>
          </a:prstGeom>
          <a:solidFill>
            <a:srgbClr val="FFFFFF"/>
          </a:solidFill>
          <a:ln w="1397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47872" y="5696712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ourier New"/>
              </a:rP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5971031"/>
            <a:ext cx="2139696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l"/>
            <a:r>
              <a:rPr sz="950" b="0">
                <a:solidFill>
                  <a:srgbClr val="41645C"/>
                </a:solidFill>
                <a:latin typeface="Calibri"/>
              </a:rPr>
              <a:t>Express routes, auth, metrics and flow 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5577840"/>
            <a:ext cx="2514600" cy="786384"/>
          </a:xfrm>
          <a:prstGeom prst="roundRect">
            <a:avLst/>
          </a:prstGeom>
          <a:solidFill>
            <a:srgbClr val="FFFFFF"/>
          </a:solidFill>
          <a:ln w="1397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5696712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Courier New"/>
              </a:rP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5971031"/>
            <a:ext cx="2139696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l"/>
            <a:r>
              <a:rPr sz="950" b="0">
                <a:solidFill>
                  <a:srgbClr val="41645C"/>
                </a:solidFill>
                <a:latin typeface="Calibri"/>
              </a:rPr>
              <a:t>PostgreSQL, Prisma models and outbox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5577840"/>
            <a:ext cx="2514600" cy="786384"/>
          </a:xfrm>
          <a:prstGeom prst="roundRect">
            <a:avLst/>
          </a:prstGeom>
          <a:solidFill>
            <a:srgbClr val="FFFFFF"/>
          </a:solidFill>
          <a:ln w="1397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34272" y="5696712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Courier New"/>
              </a:rPr>
              <a:t>INGESTION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5971031"/>
            <a:ext cx="2139696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l"/>
            <a:r>
              <a:rPr sz="950" b="0">
                <a:solidFill>
                  <a:srgbClr val="41645C"/>
                </a:solidFill>
                <a:latin typeface="Calibri"/>
              </a:rPr>
              <a:t>Airflow DAGs, Python scrapers and enrichment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28232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667512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l"/>
            <a:r>
              <a:rPr sz="1000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EduEarth Theme Background - story" descr="eduearth_bg_sto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2680" y="658368"/>
            <a:ext cx="10058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658368"/>
            <a:ext cx="411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6080760"/>
            <a:ext cx="640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89888" y="6080760"/>
            <a:ext cx="109728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75720" y="1344168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75720" y="1545336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1746504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5720" y="1947672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>
                <a:solidFill>
                  <a:srgbClr val="41645C"/>
                </a:solidFill>
                <a:latin typeface="Calibri"/>
              </a:rPr>
              <a:t>EduEarth |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120" b="1">
                <a:solidFill>
                  <a:srgbClr val="41645C"/>
                </a:solidFill>
                <a:latin typeface="Calibri"/>
              </a:rPr>
              <a:t>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2011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120" b="1">
                <a:solidFill>
                  <a:srgbClr val="41645C"/>
                </a:solidFill>
                <a:latin typeface="Courier New"/>
              </a:rPr>
              <a:t>15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"/>
            <a:ext cx="73152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566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" y="566928"/>
            <a:ext cx="7315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713232"/>
            <a:ext cx="66751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800" b="1">
                <a:solidFill>
                  <a:srgbClr val="102A26"/>
                </a:solidFill>
                <a:latin typeface="Calibri"/>
              </a:rPr>
              <a:t>Security, Scalability &amp; 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1170432"/>
            <a:ext cx="7406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440" b="0">
                <a:solidFill>
                  <a:srgbClr val="41645C"/>
                </a:solidFill>
                <a:latin typeface="Calibri"/>
              </a:rPr>
              <a:t>The current implementation already separates concerns and leaves a clear path to production hardening.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1463040"/>
            <a:ext cx="5074920" cy="434340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09360" y="1463040"/>
            <a:ext cx="5074920" cy="434340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17373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102A26"/>
                </a:solidFill>
                <a:latin typeface="Calibri"/>
              </a:rPr>
              <a:t>Current safeguards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2176272"/>
            <a:ext cx="4343400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" y="230428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11845B"/>
                </a:solidFill>
                <a:latin typeface="Courier New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2295144"/>
            <a:ext cx="363016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TOKEN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569464"/>
            <a:ext cx="3630168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Supabase bearer token checks protect mutations.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" y="2889504"/>
            <a:ext cx="4343400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24712" y="3017520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2563EB"/>
                </a:solidFill>
                <a:latin typeface="Courier New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008376"/>
            <a:ext cx="363016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REQUEST DISCIPLINE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282696"/>
            <a:ext cx="3630168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CORS, JSON limits, request IDs and centralized helpers.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" y="3602736"/>
            <a:ext cx="4343400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24712" y="3730752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6D28D9"/>
                </a:solidFill>
                <a:latin typeface="Courier New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3721608"/>
            <a:ext cx="363016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OBSERVABILITY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3995928"/>
            <a:ext cx="3630168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Pino logging plus Prometheus request duration metrics.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2" y="4315968"/>
            <a:ext cx="4343400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24712" y="4443983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B45309"/>
                </a:solidFill>
                <a:latin typeface="Courier New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434840"/>
            <a:ext cx="363016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RELIABLE FAN-OUT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709159"/>
            <a:ext cx="3630168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Outbox rows retry websocket delivery safely.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17373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102A26"/>
                </a:solidFill>
                <a:latin typeface="Calibri"/>
              </a:rPr>
              <a:t>Future scope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47104" y="2176272"/>
            <a:ext cx="4343400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84264" y="230428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11845B"/>
                </a:solidFill>
                <a:latin typeface="Courier New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4032" y="2295144"/>
            <a:ext cx="363016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TEACHER ANALYTICS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4032" y="2569464"/>
            <a:ext cx="3630168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Deeper classroom trends, intervention signals and exports.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47104" y="2889504"/>
            <a:ext cx="4343400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84264" y="3017520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2563EB"/>
                </a:solidFill>
                <a:latin typeface="Courier New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4032" y="3008376"/>
            <a:ext cx="363016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CONTENT INTELLIGENCE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4032" y="3282696"/>
            <a:ext cx="3630168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AI summaries and adaptive recommendations by grade band.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47104" y="3602736"/>
            <a:ext cx="4343400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84264" y="3730752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6D28D9"/>
                </a:solidFill>
                <a:latin typeface="Courier New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4032" y="3721608"/>
            <a:ext cx="363016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PRODUCTION INFRA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4032" y="3995928"/>
            <a:ext cx="3630168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CI/CD, managed database, cache, alerts and backup policy.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47104" y="4315968"/>
            <a:ext cx="4343400" cy="566928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84264" y="4443983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540" b="1">
                <a:solidFill>
                  <a:srgbClr val="B45309"/>
                </a:solidFill>
                <a:latin typeface="Courier New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4032" y="4434840"/>
            <a:ext cx="3630168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20" b="1">
                <a:solidFill>
                  <a:srgbClr val="102A26"/>
                </a:solidFill>
                <a:latin typeface="Calibri"/>
              </a:rPr>
              <a:t>IMPACT TRACKING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4032" y="4709159"/>
            <a:ext cx="3630168" cy="6400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70" b="0">
                <a:solidFill>
                  <a:srgbClr val="41645C"/>
                </a:solidFill>
                <a:latin typeface="Calibri"/>
              </a:rPr>
              <a:t>Verified eco-activities mapped to school and community goals.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6437376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EduEarth Theme Background - cover" descr="eduearth_bg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" y="0"/>
            <a:ext cx="1219199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12680" y="658368"/>
            <a:ext cx="1005840" cy="91440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658368"/>
            <a:ext cx="411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6080760"/>
            <a:ext cx="640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89888" y="6080760"/>
            <a:ext cx="1097280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75720" y="1344168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75720" y="1545336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1746504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75720" y="1947672"/>
            <a:ext cx="109728" cy="36576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120" b="1">
                <a:solidFill>
                  <a:srgbClr val="41645C"/>
                </a:solidFill>
                <a:latin typeface="Calibri"/>
              </a:rPr>
              <a:t>EduEarth |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ctr"/>
            <a:r>
              <a:rPr sz="1120" b="1">
                <a:solidFill>
                  <a:srgbClr val="41645C"/>
                </a:solidFill>
                <a:latin typeface="Calibri"/>
              </a:rPr>
              <a:t>Closing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2011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120" b="1">
                <a:solidFill>
                  <a:srgbClr val="41645C"/>
                </a:solidFill>
                <a:latin typeface="Courier New"/>
              </a:rPr>
              <a:t>16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"/>
            <a:ext cx="73152" cy="73152"/>
          </a:xfrm>
          <a:prstGeom prst="rect">
            <a:avLst/>
          </a:prstGeom>
          <a:solidFill>
            <a:srgbClr val="1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566928"/>
            <a:ext cx="731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" y="566928"/>
            <a:ext cx="7315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813816"/>
            <a:ext cx="10652760" cy="5074920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8" name="Picture 17" descr="EduEarth-logo-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1316048"/>
            <a:ext cx="640080" cy="531727"/>
          </a:xfrm>
          <a:prstGeom prst="rect">
            <a:avLst/>
          </a:prstGeom>
          <a:ln>
            <a:solidFill/>
          </a:ln>
        </p:spPr>
      </p:pic>
      <p:sp>
        <p:nvSpPr>
          <p:cNvPr id="19" name="TextBox 18"/>
          <p:cNvSpPr txBox="1"/>
          <p:nvPr/>
        </p:nvSpPr>
        <p:spPr>
          <a:xfrm>
            <a:off x="1847088" y="135331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2100" b="1">
                <a:solidFill>
                  <a:srgbClr val="102A26"/>
                </a:solidFill>
                <a:latin typeface="Calibri"/>
              </a:rPr>
              <a:t>EduEarth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389888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r"/>
            <a:r>
              <a:rPr sz="1070" b="1">
                <a:solidFill>
                  <a:srgbClr val="41645C"/>
                </a:solidFill>
                <a:latin typeface="Courier New"/>
              </a:rPr>
              <a:t>Project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214884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6400" b="1">
                <a:solidFill>
                  <a:srgbClr val="102A26"/>
                </a:solidFill>
                <a:latin typeface="Calibri"/>
              </a:rPr>
              <a:t>Thank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2816352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6400" b="1">
                <a:solidFill>
                  <a:srgbClr val="11845B"/>
                </a:solidFill>
                <a:latin typeface="Calibri"/>
              </a:rPr>
              <a:t>you.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712463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900" b="1">
                <a:solidFill>
                  <a:srgbClr val="102A26"/>
                </a:solidFill>
                <a:latin typeface="Calibri"/>
              </a:rPr>
              <a:t>Questions, feedback and collaboration are welcome.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224528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70" b="0">
                <a:solidFill>
                  <a:srgbClr val="41645C"/>
                </a:solidFill>
                <a:latin typeface="Calibri"/>
              </a:rPr>
              <a:t>Built as a full-stack environmental learning platform with gamified modules, realtime games, dashboards, API services and an Airflow ingestion layer.</a:t>
            </a:r>
          </a:p>
        </p:txBody>
      </p:sp>
      <p:pic>
        <p:nvPicPr>
          <p:cNvPr id="25" name="Picture 24" descr="8_Game_EcoSprint.png"/>
          <p:cNvPicPr>
            <a:picLocks noChangeAspect="1"/>
          </p:cNvPicPr>
          <p:nvPr/>
        </p:nvPicPr>
        <p:blipFill>
          <a:blip r:embed="rId5"/>
          <a:srcRect t="1828" b="1828"/>
          <a:stretch>
            <a:fillRect/>
          </a:stretch>
        </p:blipFill>
        <p:spPr>
          <a:xfrm>
            <a:off x="6537960" y="1874519"/>
            <a:ext cx="4251960" cy="2560320"/>
          </a:xfrm>
          <a:prstGeom prst="rect">
            <a:avLst/>
          </a:prstGeom>
          <a:ln>
            <a:solidFill/>
          </a:ln>
        </p:spPr>
      </p:pic>
      <p:sp>
        <p:nvSpPr>
          <p:cNvPr id="26" name="Rectangle 25"/>
          <p:cNvSpPr/>
          <p:nvPr/>
        </p:nvSpPr>
        <p:spPr>
          <a:xfrm>
            <a:off x="6537960" y="1874519"/>
            <a:ext cx="4251960" cy="256032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65392" y="4681728"/>
            <a:ext cx="786384" cy="256032"/>
          </a:xfrm>
          <a:prstGeom prst="roundRect">
            <a:avLst/>
          </a:prstGeom>
          <a:solidFill>
            <a:srgbClr val="11845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38544" y="4700016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019" b="1">
                <a:solidFill>
                  <a:srgbClr val="102A26"/>
                </a:solidFill>
                <a:latin typeface="Calibri"/>
              </a:rPr>
              <a:t>LEARN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4681728"/>
            <a:ext cx="786384" cy="256032"/>
          </a:xfrm>
          <a:prstGeom prst="round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26096" y="4700016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019" b="1">
                <a:solidFill>
                  <a:srgbClr val="102A26"/>
                </a:solidFill>
                <a:latin typeface="Calibri"/>
              </a:rPr>
              <a:t>PLAY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0496" y="4681728"/>
            <a:ext cx="786384" cy="256032"/>
          </a:xfrm>
          <a:prstGeom prst="roundRect">
            <a:avLst/>
          </a:prstGeom>
          <a:solidFill>
            <a:srgbClr val="6D28D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13648" y="4700016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019" b="1">
                <a:solidFill>
                  <a:srgbClr val="102A26"/>
                </a:solidFill>
                <a:latin typeface="Calibri"/>
              </a:rPr>
              <a:t>ACT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28048" y="4681728"/>
            <a:ext cx="786384" cy="256032"/>
          </a:xfrm>
          <a:prstGeom prst="roundRect">
            <a:avLst/>
          </a:prstGeom>
          <a:solidFill>
            <a:srgbClr val="B4530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0" y="4700016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sz="1019" b="1">
                <a:solidFill>
                  <a:srgbClr val="102A26"/>
                </a:solidFill>
                <a:latin typeface="Calibri"/>
              </a:rPr>
              <a:t>TRACK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37376"/>
            <a:ext cx="11201400" cy="9144"/>
          </a:xfrm>
          <a:prstGeom prst="rect">
            <a:avLst/>
          </a:prstGeom>
          <a:solidFill>
            <a:srgbClr val="BD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019" b="0">
                <a:solidFill>
                  <a:srgbClr val="41645C"/>
                </a:solidFill>
                <a:latin typeface="Calibri"/>
              </a:rPr>
              <a:t>Gamified learning | Role-aware dashboards | Realtime games | Environmental data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1964</Words>
  <Application>Microsoft Office PowerPoint</Application>
  <PresentationFormat>Widescreen</PresentationFormat>
  <Paragraphs>371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Gourav Sittam Chaudhary</cp:lastModifiedBy>
  <cp:revision>8</cp:revision>
  <dcterms:created xsi:type="dcterms:W3CDTF">2013-01-27T09:14:16Z</dcterms:created>
  <dcterms:modified xsi:type="dcterms:W3CDTF">2026-05-20T10:17:42Z</dcterms:modified>
  <cp:category/>
</cp:coreProperties>
</file>